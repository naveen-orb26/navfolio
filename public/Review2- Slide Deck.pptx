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C09E54D-F804-486F-970C-D435113D86B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F8E8EF-B07B-403B-A13E-0EBE4850949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4C80FA-1254-48BD-9757-C64845FDE6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CFFE67-2000-4F77-96A2-1D7FD74EAD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0BEE2D-0E2F-42CE-AC55-1B636AF386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DCFB8E-6D12-4B3F-9788-A6D6B286B70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9B388F-C300-426B-A68E-24E3A498B7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E5C81D-CE7B-4F4D-9E2D-818130A769E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1E4D26-1288-49F3-9414-72506D0FC0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40EFC8-4A30-4875-96EE-4C47AD7628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0BA4A1-5516-43D4-B1BA-21F5B786336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82B2C1-F3B7-4D35-AB12-8AACD2A8F3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A1009B-52E0-4B0F-BA30-08F861C376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FA2C7E-D8FE-4F82-BCC1-151FDD2386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CB3917-4E31-4B7C-A2E9-8A399A3BFA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054EF4-0B97-4075-8E49-5435DED1D02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65EB6C-B9FF-4C99-BF81-6C95BFF741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1F3795-3175-4CE4-9A35-BF7A3D9DB0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F4AEBA-D92B-4E36-96B8-128849F421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FEA016-D44F-481E-8BC5-6687C3CC408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7CD9ED-5C46-4BB4-A2AD-0503B723AA6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73FA7B-519A-4029-91CC-06BF0F176A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E29B7F-53E2-4D0B-AAEA-8A4D0311A7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7FB983-5E2E-4768-955A-41CF38B048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0FE16E-7333-4E8C-83E3-EB520D9542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362BE6-F3F2-40B2-93E7-1766173AF0A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79B781-5A55-4567-92F6-D1954A347F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C8CF26-9146-4656-9D96-1CE8AB1ACE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069398-DD13-44A8-A336-08B0FFF50F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8961120" y="-2011680"/>
            <a:ext cx="5486040" cy="5486040"/>
          </a:xfrm>
          <a:prstGeom prst="ellipse">
            <a:avLst/>
          </a:prstGeom>
          <a:solidFill>
            <a:srgbClr val="1f30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332720" y="-822960"/>
            <a:ext cx="2925720" cy="2925720"/>
          </a:xfrm>
          <a:prstGeom prst="ellipse">
            <a:avLst/>
          </a:prstGeom>
          <a:solidFill>
            <a:srgbClr val="00a8e8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822960" y="16002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8" strike="noStrike">
                <a:solidFill>
                  <a:srgbClr val="00a8e8"/>
                </a:solidFill>
                <a:latin typeface="Calibri"/>
                <a:ea typeface="Calibri"/>
              </a:rPr>
              <a:t>BCSE497J · PROJECT-I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22960" y="210312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mbria"/>
                <a:ea typeface="Cambria"/>
              </a:rPr>
              <a:t>FairRoute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22960" y="3017520"/>
            <a:ext cx="9326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edf2f9"/>
                </a:solidFill>
                <a:latin typeface="Calibri"/>
                <a:ea typeface="Calibri"/>
              </a:rPr>
              <a:t>A Predictive, Fairness- and Locality-Aware Routing Layer for Multi-Replica LLM Serving Clusters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41605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00a8e8"/>
                </a:solidFill>
                <a:latin typeface="Calibri"/>
                <a:ea typeface="Calibri"/>
              </a:rPr>
              <a:t>TEAM MEMBERS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2926080" y="41605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Sasank V (23BAI1010)   ·   Naveen B S (23BAI1069)   ·   Sriram  S (23BAI1117)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22960" y="46177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00a8e8"/>
                </a:solidFill>
                <a:latin typeface="Calibri"/>
                <a:ea typeface="Calibri"/>
              </a:rPr>
              <a:t>GUIDE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2926080" y="46177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Dr. Sakthivel V, Associate Professor, School of Computer Science and Engineering (SCOPE)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822960" y="50749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00a8e8"/>
                </a:solidFill>
                <a:latin typeface="Calibri"/>
                <a:ea typeface="Calibri"/>
              </a:rPr>
              <a:t>REVIEW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2926080" y="507492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Review 2 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ROADMAP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Agenda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28"/>
          <p:cNvSpPr/>
          <p:nvPr/>
        </p:nvSpPr>
        <p:spPr>
          <a:xfrm>
            <a:off x="1143000" y="1600200"/>
            <a:ext cx="4800600" cy="29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97" strike="noStrike">
                <a:solidFill>
                  <a:srgbClr val="00a8e8"/>
                </a:solidFill>
                <a:latin typeface="Calibri"/>
                <a:ea typeface="Calibri"/>
              </a:rPr>
              <a:t>1. DOMAIN &amp; PROBLEM STATEMENT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97" strike="noStrike">
                <a:solidFill>
                  <a:srgbClr val="00a8e8"/>
                </a:solidFill>
                <a:latin typeface="Calibri"/>
                <a:ea typeface="Calibri"/>
              </a:rPr>
              <a:t>2. LITERATURE REVIEW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97" strike="noStrike">
                <a:solidFill>
                  <a:srgbClr val="00a8e8"/>
                </a:solidFill>
                <a:latin typeface="Calibri"/>
                <a:ea typeface="Calibri"/>
              </a:rPr>
              <a:t>3. PROPOSED METHODOLOGY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97" strike="noStrike">
                <a:solidFill>
                  <a:srgbClr val="00a8e8"/>
                </a:solidFill>
                <a:latin typeface="Calibri"/>
                <a:ea typeface="Calibri"/>
              </a:rPr>
              <a:t>4. MODULE DESCRIPTION / SYSTEM DESIGN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9144000" y="-2103120"/>
            <a:ext cx="5486040" cy="5486040"/>
          </a:xfrm>
          <a:prstGeom prst="ellipse">
            <a:avLst/>
          </a:prstGeom>
          <a:solidFill>
            <a:srgbClr val="1f30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10424160" y="-822960"/>
            <a:ext cx="2742840" cy="2742840"/>
          </a:xfrm>
          <a:prstGeom prst="ellipse">
            <a:avLst/>
          </a:prstGeom>
          <a:solidFill>
            <a:srgbClr val="00a8e8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822960" y="233172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8" strike="noStrike">
                <a:solidFill>
                  <a:srgbClr val="00a8e8"/>
                </a:solidFill>
                <a:latin typeface="Calibri"/>
                <a:ea typeface="Calibri"/>
              </a:rPr>
              <a:t>SECTION 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822960" y="2743200"/>
            <a:ext cx="10058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Domain &amp; Problem Statement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822960" y="4160520"/>
            <a:ext cx="9417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edf2f9"/>
                </a:solidFill>
                <a:latin typeface="Calibri"/>
                <a:ea typeface="Calibri"/>
              </a:rPr>
              <a:t>Why routing became its own decision, and where three years of routers still fall short.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6b8c"/>
                </a:solidFill>
                <a:latin typeface="Calibri"/>
                <a:ea typeface="Calibri"/>
              </a:rPr>
              <a:t>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01 · DOMAIN &amp; PROBLEM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A Model Computes. Serving Decides.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640080" y="1828800"/>
            <a:ext cx="5120280" cy="3108600"/>
          </a:xfrm>
          <a:prstGeom prst="roundRect">
            <a:avLst>
              <a:gd name="adj" fmla="val 2941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914400" y="20116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0a8e8"/>
                </a:solidFill>
                <a:latin typeface="Calibri"/>
                <a:ea typeface="Calibri"/>
              </a:rPr>
              <a:t>THE MODEL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914400" y="23774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800" spc="-1" strike="noStrike">
                <a:solidFill>
                  <a:srgbClr val="162447"/>
                </a:solidFill>
                <a:latin typeface="Cambria"/>
                <a:ea typeface="Cambria"/>
              </a:rPr>
              <a:t>tokens in  →  tokens out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914400" y="3063240"/>
            <a:ext cx="45716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1e28"/>
                </a:solidFill>
                <a:latin typeface="Calibri"/>
                <a:ea typeface="Calibri"/>
              </a:rPr>
              <a:t>One prompt at a time.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b1e28"/>
                </a:solidFill>
                <a:latin typeface="Calibri"/>
                <a:ea typeface="Calibri"/>
              </a:rPr>
              <a:t>Nobody — not even the model — knows in advance how long the answer will be.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6"/>
          <p:cNvSpPr/>
          <p:nvPr/>
        </p:nvSpPr>
        <p:spPr>
          <a:xfrm>
            <a:off x="6309360" y="1828800"/>
            <a:ext cx="5120280" cy="3108600"/>
          </a:xfrm>
          <a:prstGeom prst="roundRect">
            <a:avLst>
              <a:gd name="adj" fmla="val 2941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6583680" y="201168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0a8e8"/>
                </a:solidFill>
                <a:latin typeface="Calibri"/>
                <a:ea typeface="Calibri"/>
              </a:rPr>
              <a:t>THE SERVING SYSTEM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6583680" y="23774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many users, one shared cluster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6583680" y="3063240"/>
            <a:ext cx="45716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df2f9"/>
                </a:solidFill>
                <a:latin typeface="Calibri"/>
                <a:ea typeface="Calibri"/>
              </a:rPr>
              <a:t>Requests arrive nonstop, GPU memory is limited, and every client expects a fast answer.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df2f9"/>
                </a:solidFill>
                <a:latin typeface="Calibri"/>
                <a:ea typeface="Calibri"/>
              </a:rPr>
              <a:t>Now decisions have to be made.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640080" y="521208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This project is about the decisions the serving system makes — not how the model computes.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01 · DOMAIN &amp; PROBLEM 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The Routing–Scheduling–Batching Triad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822960" y="1783080"/>
            <a:ext cx="2651400" cy="1234080"/>
          </a:xfrm>
          <a:prstGeom prst="roundRect">
            <a:avLst>
              <a:gd name="adj" fmla="val 7407"/>
            </a:avLst>
          </a:prstGeom>
          <a:solidFill>
            <a:srgbClr val="00a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822960" y="192924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62447"/>
                </a:solidFill>
                <a:latin typeface="Cambria"/>
                <a:ea typeface="Cambria"/>
              </a:rPr>
              <a:t>ROUTING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822960" y="240480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f3057"/>
                </a:solidFill>
                <a:latin typeface="Calibri"/>
                <a:ea typeface="Calibri"/>
              </a:rPr>
              <a:t>WHERE?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3840480" y="1783080"/>
            <a:ext cx="7314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1e28"/>
                </a:solidFill>
                <a:latin typeface="Calibri"/>
                <a:ea typeface="Calibri"/>
              </a:rPr>
              <a:t>Which replica (physical GPU instance) should handle this new request? — the layer this project addresses.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6"/>
          <p:cNvSpPr/>
          <p:nvPr/>
        </p:nvSpPr>
        <p:spPr>
          <a:xfrm>
            <a:off x="822960" y="3200400"/>
            <a:ext cx="2651400" cy="1234080"/>
          </a:xfrm>
          <a:prstGeom prst="roundRect">
            <a:avLst>
              <a:gd name="adj" fmla="val 7407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822960" y="33465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SCHEDULING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822960" y="382212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a8e8"/>
                </a:solidFill>
                <a:latin typeface="Calibri"/>
                <a:ea typeface="Calibri"/>
              </a:rPr>
              <a:t>WHEN?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3840480" y="3200400"/>
            <a:ext cx="7314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1e28"/>
                </a:solidFill>
                <a:latin typeface="Calibri"/>
                <a:ea typeface="Calibri"/>
              </a:rPr>
              <a:t>Within that replica, which waiting requests run next, subject to the KV-cache memory budget?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10"/>
          <p:cNvSpPr/>
          <p:nvPr/>
        </p:nvSpPr>
        <p:spPr>
          <a:xfrm>
            <a:off x="822960" y="4617720"/>
            <a:ext cx="2651400" cy="1234080"/>
          </a:xfrm>
          <a:prstGeom prst="roundRect">
            <a:avLst>
              <a:gd name="adj" fmla="val 7407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822960" y="476388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BATCHING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2"/>
          <p:cNvSpPr/>
          <p:nvPr/>
        </p:nvSpPr>
        <p:spPr>
          <a:xfrm>
            <a:off x="822960" y="523944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a8e8"/>
                </a:solidFill>
                <a:latin typeface="Calibri"/>
                <a:ea typeface="Calibri"/>
              </a:rPr>
              <a:t>WITH WHOM?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3840480" y="4617720"/>
            <a:ext cx="73148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b1e28"/>
                </a:solidFill>
                <a:latin typeface="Calibri"/>
                <a:ea typeface="Calibri"/>
              </a:rPr>
              <a:t>At the finest grain, which requests are grouped into a single GPU execution step?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640080" y="598932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These three decisions are logically separable but not independent — a routing decision that ignores what a replica's scheduler is about to do can send a request into a memory-starved batch.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15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01 · DOMAIN &amp; PROBLEM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One Replica Can't Serve Everyone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822960" y="1783080"/>
            <a:ext cx="3108600" cy="1371240"/>
          </a:xfrm>
          <a:prstGeom prst="roundRect">
            <a:avLst>
              <a:gd name="adj" fmla="val 6667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822960" y="192024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2447"/>
                </a:solidFill>
                <a:latin typeface="Calibri"/>
                <a:ea typeface="Cambria"/>
              </a:rPr>
              <a:t>ONE REPLICA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005840" y="237744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Fine for light traffic.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472"/>
                </a:solidFill>
                <a:latin typeface="Calibri"/>
                <a:ea typeface="Calibri"/>
              </a:rPr>
              <a:t>Overwhelmed as tenants grow.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4069080" y="2286000"/>
            <a:ext cx="36540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d2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4572000" y="1783080"/>
            <a:ext cx="3200400" cy="1371240"/>
          </a:xfrm>
          <a:prstGeom prst="roundRect">
            <a:avLst>
              <a:gd name="adj" fmla="val 6667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4572000" y="1920240"/>
            <a:ext cx="3200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e8"/>
                </a:solidFill>
                <a:latin typeface="Calibri"/>
                <a:ea typeface="Cambria"/>
              </a:rPr>
              <a:t>MANY REPLICAS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Text 8"/>
          <p:cNvSpPr/>
          <p:nvPr/>
        </p:nvSpPr>
        <p:spPr>
          <a:xfrm>
            <a:off x="4732200" y="2377440"/>
            <a:ext cx="2880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f2f9"/>
                </a:solidFill>
                <a:latin typeface="Calibri"/>
                <a:ea typeface="Calibri"/>
              </a:rPr>
              <a:t>Run many identical vLLM copies, spread tenants across them.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8595360" y="1783080"/>
            <a:ext cx="2788560" cy="1371240"/>
          </a:xfrm>
          <a:prstGeom prst="roundRect">
            <a:avLst>
              <a:gd name="adj" fmla="val 6667"/>
            </a:avLst>
          </a:prstGeom>
          <a:solidFill>
            <a:srgbClr val="00a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8595360" y="1920240"/>
            <a:ext cx="278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62447"/>
                </a:solidFill>
                <a:latin typeface="Calibri"/>
                <a:ea typeface="Cambria"/>
              </a:rPr>
              <a:t>ROUTER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8732520" y="2377440"/>
            <a:ext cx="2514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62447"/>
                </a:solidFill>
                <a:latin typeface="Calibri"/>
                <a:ea typeface="Calibri"/>
              </a:rPr>
              <a:t>“</a:t>
            </a:r>
            <a:r>
              <a:rPr b="1" lang="en-US" sz="1100" spc="-1" strike="noStrike">
                <a:solidFill>
                  <a:srgbClr val="162447"/>
                </a:solidFill>
                <a:latin typeface="Calibri"/>
                <a:ea typeface="Calibri"/>
              </a:rPr>
              <a:t>Which replica gets this request?”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929880" y="3886560"/>
            <a:ext cx="2331360" cy="914040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 w="12700">
            <a:solidFill>
              <a:srgbClr val="1624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929880" y="3886560"/>
            <a:ext cx="2331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447"/>
                </a:solidFill>
                <a:latin typeface="Calibri"/>
                <a:ea typeface="Calibri"/>
              </a:rPr>
              <a:t>Replica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3535920" y="3886560"/>
            <a:ext cx="2331360" cy="914040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 w="12700">
            <a:solidFill>
              <a:srgbClr val="1624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3535920" y="3886560"/>
            <a:ext cx="2331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447"/>
                </a:solidFill>
                <a:latin typeface="Calibri"/>
                <a:ea typeface="Calibri"/>
              </a:rPr>
              <a:t>Replica 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6141960" y="3886560"/>
            <a:ext cx="2331360" cy="914040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 w="12700">
            <a:solidFill>
              <a:srgbClr val="1624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6141960" y="3886560"/>
            <a:ext cx="2331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447"/>
                </a:solidFill>
                <a:latin typeface="Calibri"/>
                <a:ea typeface="Calibri"/>
              </a:rPr>
              <a:t>Replica 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8748000" y="3886560"/>
            <a:ext cx="2331360" cy="914040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 w="12700">
            <a:solidFill>
              <a:srgbClr val="1624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8748000" y="3886560"/>
            <a:ext cx="2331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447"/>
                </a:solidFill>
                <a:latin typeface="Calibri"/>
                <a:ea typeface="Calibri"/>
              </a:rPr>
              <a:t>Replica 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777600" y="548640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The moment there's more than one replica, a new question appears: which replica should each request go to? That question is ROUTING.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0"/>
          <p:cNvSpPr/>
          <p:nvPr/>
        </p:nvSpPr>
        <p:spPr>
          <a:xfrm>
            <a:off x="8001000" y="2286000"/>
            <a:ext cx="36540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d2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01 · DOMAIN &amp; PROBLEM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Cambria"/>
                <a:ea typeface="Cambria"/>
              </a:rPr>
              <a:t>Problem Statement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2"/>
          <p:cNvSpPr/>
          <p:nvPr/>
        </p:nvSpPr>
        <p:spPr>
          <a:xfrm>
            <a:off x="640080" y="1691640"/>
            <a:ext cx="10881000" cy="1234080"/>
          </a:xfrm>
          <a:prstGeom prst="roundRect">
            <a:avLst>
              <a:gd name="adj" fmla="val 7407"/>
            </a:avLst>
          </a:prstGeom>
          <a:solidFill>
            <a:srgbClr val="1f30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914400" y="1691640"/>
            <a:ext cx="103323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550" spc="-1" strike="noStrike">
                <a:solidFill>
                  <a:srgbClr val="ffffff"/>
                </a:solidFill>
                <a:latin typeface="Cambria"/>
                <a:ea typeface="Cambria"/>
              </a:rPr>
              <a:t>A multi-replica router must decide WHERE to send every request — in milliseconds, with incomplete information — and every existing routing strategy makes that decision by focusing on only one of three concerns at a time.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640080" y="3154680"/>
            <a:ext cx="54360" cy="776880"/>
          </a:xfrm>
          <a:prstGeom prst="rect">
            <a:avLst/>
          </a:prstGeom>
          <a:solidFill>
            <a:srgbClr val="00a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868680" y="3108960"/>
            <a:ext cx="310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a8e8"/>
                </a:solidFill>
                <a:latin typeface="Calibri"/>
                <a:ea typeface="Calibri"/>
              </a:rPr>
              <a:t>Some routers chase cache reuse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4114800" y="3108960"/>
            <a:ext cx="7406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df2f9"/>
                </a:solidFill>
                <a:latin typeface="Calibri"/>
                <a:ea typeface="Calibri"/>
              </a:rPr>
              <a:t>and send requests toward whichever replica already holds a matching KV-cache prefix — but a client with highly cache-friendly traffic can end up dominating a shared cluster.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640080" y="4114800"/>
            <a:ext cx="54360" cy="776880"/>
          </a:xfrm>
          <a:prstGeom prst="rect">
            <a:avLst/>
          </a:prstGeom>
          <a:solidFill>
            <a:srgbClr val="00a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868680" y="4069080"/>
            <a:ext cx="310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a8e8"/>
                </a:solidFill>
                <a:latin typeface="Calibri"/>
                <a:ea typeface="Calibri"/>
              </a:rPr>
              <a:t>Some routers enforce fairness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4114800" y="4069080"/>
            <a:ext cx="7406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df2f9"/>
                </a:solidFill>
                <a:latin typeface="Calibri"/>
                <a:ea typeface="Calibri"/>
              </a:rPr>
              <a:t>and guarantee every tenant its proportional share — but decide using only the cluster's current snapshot, not where each replica is heading.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0"/>
          <p:cNvSpPr/>
          <p:nvPr/>
        </p:nvSpPr>
        <p:spPr>
          <a:xfrm>
            <a:off x="640080" y="5074920"/>
            <a:ext cx="54360" cy="776880"/>
          </a:xfrm>
          <a:prstGeom prst="rect">
            <a:avLst/>
          </a:prstGeom>
          <a:solidFill>
            <a:srgbClr val="00a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868680" y="5029200"/>
            <a:ext cx="3108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0a8e8"/>
                </a:solidFill>
                <a:latin typeface="Calibri"/>
                <a:ea typeface="Calibri"/>
              </a:rPr>
              <a:t>Some routers predict the future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4114800" y="5029200"/>
            <a:ext cx="7406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df2f9"/>
                </a:solidFill>
                <a:latin typeface="Calibri"/>
                <a:ea typeface="Calibri"/>
              </a:rPr>
              <a:t>and forecast each replica's near-term capacity — but have no notion of fairness between competing tenants at all.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640080" y="617220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9fb0d0"/>
                </a:solidFill>
                <a:latin typeface="Calibri"/>
                <a:ea typeface="Calibri"/>
              </a:rPr>
              <a:t>No router does all three at once. Section 2's literature review shows exactly why — and where that leaves an opening.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6b8c"/>
                </a:solidFill>
                <a:latin typeface="Calibri"/>
                <a:ea typeface="Calibri"/>
              </a:rPr>
              <a:t>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9144000" y="-2103120"/>
            <a:ext cx="5486040" cy="5486040"/>
          </a:xfrm>
          <a:prstGeom prst="ellipse">
            <a:avLst/>
          </a:prstGeom>
          <a:solidFill>
            <a:srgbClr val="1f30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1"/>
          <p:cNvSpPr/>
          <p:nvPr/>
        </p:nvSpPr>
        <p:spPr>
          <a:xfrm>
            <a:off x="10424160" y="-822960"/>
            <a:ext cx="2742840" cy="2742840"/>
          </a:xfrm>
          <a:prstGeom prst="ellipse">
            <a:avLst/>
          </a:prstGeom>
          <a:solidFill>
            <a:srgbClr val="00a8e8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2"/>
          <p:cNvSpPr/>
          <p:nvPr/>
        </p:nvSpPr>
        <p:spPr>
          <a:xfrm>
            <a:off x="822960" y="233172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8" strike="noStrike">
                <a:solidFill>
                  <a:srgbClr val="00a8e8"/>
                </a:solidFill>
                <a:latin typeface="Calibri"/>
                <a:ea typeface="Calibri"/>
              </a:rPr>
              <a:t>SECTION 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822960" y="2743200"/>
            <a:ext cx="10058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Literature Review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822960" y="4160520"/>
            <a:ext cx="9417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edf2f9"/>
                </a:solidFill>
                <a:latin typeface="Calibri"/>
                <a:ea typeface="Calibri"/>
              </a:rPr>
              <a:t>21 papers, 2022–2026, organized around the signals that decide routing: locality, fairness, and prediction.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6b8c"/>
                </a:solidFill>
                <a:latin typeface="Calibri"/>
                <a:ea typeface="Calibri"/>
              </a:rPr>
              <a:t>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02 · LITERATURE REVIEW 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How We Reviewed the Field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640080" y="173736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b1e28"/>
                </a:solidFill>
                <a:latin typeface="Calibri"/>
                <a:ea typeface="Calibri"/>
              </a:rPr>
              <a:t>Twenty-one papers (2022–2026) were read in full and organized around the three layers that decide routing — locality, fairness, and prediction — plus the foundational systems that made large-scale LLM serving possible in the first place.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822960" y="2834640"/>
            <a:ext cx="3428640" cy="2102760"/>
          </a:xfrm>
          <a:prstGeom prst="roundRect">
            <a:avLst>
              <a:gd name="adj" fmla="val 4348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1051560" y="301752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00a8e8"/>
                </a:solidFill>
                <a:latin typeface="Cambria"/>
                <a:ea typeface="Cambria"/>
              </a:rPr>
              <a:t>21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1051560" y="3840480"/>
            <a:ext cx="2971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papers reviewed in full, 2022–2026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4480560" y="2834640"/>
            <a:ext cx="3428640" cy="2102760"/>
          </a:xfrm>
          <a:prstGeom prst="roundRect">
            <a:avLst>
              <a:gd name="adj" fmla="val 4348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4709160" y="301752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00a8e8"/>
                </a:solidFill>
                <a:latin typeface="Cambria"/>
                <a:ea typeface="Cambria"/>
              </a:rPr>
              <a:t>6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4709160" y="3840480"/>
            <a:ext cx="2971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sub-areas: foundations, cluster routing, intra-replica scheduling &amp; batching, fairness, KV-cache scheduling theory, evaluation infra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8138160" y="2834640"/>
            <a:ext cx="3428640" cy="2102760"/>
          </a:xfrm>
          <a:prstGeom prst="roundRect">
            <a:avLst>
              <a:gd name="adj" fmla="val 4348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8366760" y="3017520"/>
            <a:ext cx="2971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00a8e8"/>
                </a:solidFill>
                <a:latin typeface="Cambria"/>
                <a:ea typeface="Cambria"/>
              </a:rPr>
              <a:t>3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8366760" y="3840480"/>
            <a:ext cx="2971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breakthrough papers analyzed in depth: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Preble, VTC → D²LPM, NexusSched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640080" y="525780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The next two slides list every paper reviewed; the slides after that dive deep into the three that matter most.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02 · LITERATURE REVIEW (1/2)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62447"/>
                </a:solidFill>
                <a:latin typeface="Cambria"/>
                <a:ea typeface="Cambria"/>
              </a:rPr>
              <a:t>Foundations &amp; Routing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7" name="Table 0"/>
          <p:cNvGraphicFramePr/>
          <p:nvPr/>
        </p:nvGraphicFramePr>
        <p:xfrm>
          <a:off x="640080" y="1508760"/>
          <a:ext cx="10881000" cy="4827600"/>
        </p:xfrm>
        <a:graphic>
          <a:graphicData uri="http://schemas.openxmlformats.org/drawingml/2006/table">
            <a:tbl>
              <a:tblPr/>
              <a:tblGrid>
                <a:gridCol w="3383280"/>
                <a:gridCol w="5852160"/>
                <a:gridCol w="1645920"/>
              </a:tblGrid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Paper (Author, Year)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Pope et al., 2022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First systems-level characterization of memory-bound decode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MLSys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Yu et al., 2022 (Orca)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Iteration-level continuous batching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OSDI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Kwon et al., 2023 (vLLM)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PagedAttention: paged KV-cache memory allocation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SOSP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Li, Z. et al., 2023 (AlpaServe)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Statistical multiplexing via model parallelism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OSDI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Sheng et al., 2023/24 (VTC)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Token-level fair queueing; proven 2× tight bound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Srivatsa et al., 2024 (Preble)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First distributed router built around prompt sharing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ICLR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Sun et al., 2024 (Llumnix)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Cross-instance live migration for load isolation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Zhong et al., 2024 (DistServe)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Prefill/decode disaggregation for goodput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OSDI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Agrawal et al., 2024 (Sarathi-Serve)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Chunked-prefill + stall-free scheduling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OSDI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Zhang et al., 2025 (NexusSched)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Predictive, two-layer cluster/engine routing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Xia et al., 2026 (SkyWalker)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Two-layer, prefix-aware cross-region load balancing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EuroSys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118" name="Text 2"/>
          <p:cNvSpPr/>
          <p:nvPr/>
        </p:nvSpPr>
        <p:spPr>
          <a:xfrm>
            <a:off x="640080" y="630936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9aa5b4"/>
                </a:solidFill>
                <a:latin typeface="Calibri"/>
                <a:ea typeface="Calibri"/>
              </a:rPr>
              <a:t>11 of 21 papers — remaining 10 continue on the next slide.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10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02 · LITERATURE REVIEW (2/2)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62447"/>
                </a:solidFill>
                <a:latin typeface="Cambria"/>
                <a:ea typeface="Cambria"/>
              </a:rPr>
              <a:t>Fairness, Scheduling Theory &amp; Beyond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2" name="Table 0"/>
          <p:cNvGraphicFramePr/>
          <p:nvPr/>
        </p:nvGraphicFramePr>
        <p:xfrm>
          <a:off x="640080" y="1508760"/>
          <a:ext cx="10881000" cy="4425480"/>
        </p:xfrm>
        <a:graphic>
          <a:graphicData uri="http://schemas.openxmlformats.org/drawingml/2006/table">
            <a:tbl>
              <a:tblPr/>
              <a:tblGrid>
                <a:gridCol w="3383280"/>
                <a:gridCol w="5852160"/>
                <a:gridCol w="1645920"/>
              </a:tblGrid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Paper (Author, Year)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Contribution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Cao et al., 2025 (D²LPM)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Fairness + locality jointly, distributed setting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RouteBalance, 2026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Cluster orchestration across heterogeneous GPU/model tiers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Lim et al., 2026 (Lodestar)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Online-learning reward predictor for routing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Jaillet, Wang, Ye et al., 2025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Formal impossibility result for KV-constrained scheduling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Feng et al., 2026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O(1)-competitive non-clairvoyant scheduling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Kong et al., 2026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Sharpens competitive ratio via geometric packing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Li, H. et al., 2025 (Continuum)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KV-cache retention for multi-turn agentic workloads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Sun, Y. et al., 2026 (Gimbal)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Coordinated dispatch + expert placement for MoE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Lin et al., 2026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Asymptotically optimal many-server cluster control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40212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Agrawal, A. et al., 2024 (Vidur)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High-fidelity LLM serving simulator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arXiv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3" name="Text 2"/>
          <p:cNvSpPr/>
          <p:nvPr/>
        </p:nvSpPr>
        <p:spPr>
          <a:xfrm>
            <a:off x="640080" y="630936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9aa5b4"/>
                </a:solidFill>
                <a:latin typeface="Calibri"/>
                <a:ea typeface="Calibri"/>
              </a:rPr>
              <a:t>21 papers total, spanning 2022–2026 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11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02 · LITERATURE DEEP-DIVE · LOCALITY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Preble: Route Toward the Cache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640080" y="1600200"/>
            <a:ext cx="10881000" cy="1188360"/>
          </a:xfrm>
          <a:prstGeom prst="roundRect">
            <a:avLst>
              <a:gd name="adj" fmla="val 7692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914400" y="1600200"/>
            <a:ext cx="10332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Preble was the first distributed router built around prompt sharing — it sends each request to the replica most likely to already hold its prefix, and it does add a priority mechanism aimed at fairness on top of that.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640080" y="306324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97" strike="noStrike">
                <a:solidFill>
                  <a:srgbClr val="00a8e8"/>
                </a:solidFill>
                <a:latin typeface="Calibri"/>
                <a:ea typeface="Calibri"/>
              </a:rPr>
              <a:t>WHAT IT GIVES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3474720" y="306324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e28"/>
                </a:solidFill>
                <a:latin typeface="Calibri"/>
                <a:ea typeface="Calibri"/>
              </a:rPr>
              <a:t>Big latency wins by avoiding recomputation, and a priority queue — based on prefix cache-hit ratio and per-priority quotas — that goes some way toward fairness.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640080" y="406908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97" strike="noStrike">
                <a:solidFill>
                  <a:srgbClr val="ff6b5b"/>
                </a:solidFill>
                <a:latin typeface="Calibri"/>
                <a:ea typeface="Calibri"/>
              </a:rPr>
              <a:t>THE LIMITATION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3474720" y="4069080"/>
            <a:ext cx="8046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e28"/>
                </a:solidFill>
                <a:latin typeface="Calibri"/>
                <a:ea typeface="Calibri"/>
              </a:rPr>
              <a:t>That priority queue avoids outright starvation but gives no strict, provable fairness guarantee. 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e28"/>
                </a:solidFill>
                <a:latin typeface="Calibri"/>
                <a:ea typeface="Calibri"/>
              </a:rPr>
              <a:t>D²LPM's own benchmarking shows well-behaved clients can face up to 7.18× higher latency under Preble when another client sends unusually long or complex prompts.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8"/>
          <p:cNvSpPr/>
          <p:nvPr/>
        </p:nvSpPr>
        <p:spPr>
          <a:xfrm>
            <a:off x="640080" y="6419160"/>
            <a:ext cx="969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aa5b4"/>
                </a:solidFill>
                <a:latin typeface="Calibri"/>
                <a:ea typeface="Calibri"/>
              </a:rPr>
              <a:t>▸ </a:t>
            </a:r>
            <a:r>
              <a:rPr b="0" i="1" lang="en-US" sz="950" spc="-1" strike="noStrike">
                <a:solidFill>
                  <a:srgbClr val="9aa5b4"/>
                </a:solidFill>
                <a:latin typeface="Calibri"/>
                <a:ea typeface="Calibri"/>
              </a:rPr>
              <a:t>Preble: Efficient Distributed Prompt Scheduling for LLM Serving (Srivatsa et al., ICLR 2024) · D²LPM §6.2 evaluation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12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02 · LITERATURE DEEP-DIVE · FAIRNESS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From VTC to D²LPM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640080" y="1691640"/>
            <a:ext cx="5211720" cy="3245760"/>
          </a:xfrm>
          <a:prstGeom prst="roundRect">
            <a:avLst>
              <a:gd name="adj" fmla="val 2817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914400" y="187452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0a8e8"/>
                </a:solidFill>
                <a:latin typeface="Calibri"/>
                <a:ea typeface="Calibri"/>
              </a:rPr>
              <a:t>VTC · the foundation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914400" y="224028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500" spc="-1" strike="noStrike">
                <a:solidFill>
                  <a:srgbClr val="162447"/>
                </a:solidFill>
                <a:latin typeface="Cambria"/>
                <a:ea typeface="Cambria"/>
              </a:rPr>
              <a:t>Count tokens served per client. Always serve whoever has received the least.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914400" y="3291840"/>
            <a:ext cx="4663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e28"/>
                </a:solidFill>
                <a:latin typeface="Calibri"/>
                <a:ea typeface="Calibri"/>
              </a:rPr>
              <a:t>A proven, tight 2× worst-case fairness bound. But it works on a single replica and ignores cache locality entirely.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6309360" y="1691640"/>
            <a:ext cx="5211720" cy="3245760"/>
          </a:xfrm>
          <a:prstGeom prst="roundRect">
            <a:avLst>
              <a:gd name="adj" fmla="val 2817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6583680" y="187452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00a8e8"/>
                </a:solidFill>
                <a:latin typeface="Calibri"/>
                <a:ea typeface="Calibri"/>
              </a:rPr>
              <a:t>D²LPM · fairness + locality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6583680" y="224028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The first scheduler to be fair AND locality-aware, across a distributed cluster.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6583680" y="3291840"/>
            <a:ext cx="4663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df2f9"/>
                </a:solidFill>
                <a:latin typeface="Calibri"/>
                <a:ea typeface="Calibri"/>
              </a:rPr>
              <a:t>It proves its own fairness guarantee — deliberately relaxed from VTC's, in exchange for locality — reporting up to 2.87× higher throughput than VTC on real multi-turn workloads.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640080" y="6419160"/>
            <a:ext cx="969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aa5b4"/>
                </a:solidFill>
                <a:latin typeface="Calibri"/>
                <a:ea typeface="Calibri"/>
              </a:rPr>
              <a:t>▸ </a:t>
            </a:r>
            <a:r>
              <a:rPr b="0" i="1" lang="en-US" sz="950" spc="-1" strike="noStrike">
                <a:solidFill>
                  <a:srgbClr val="9aa5b4"/>
                </a:solidFill>
                <a:latin typeface="Calibri"/>
                <a:ea typeface="Calibri"/>
              </a:rPr>
              <a:t>VTC: Fairness in Serving LLMs (Sheng et al., 2023/24) · D²LPM: Locality-aware Fair Scheduling (Cao et al., 2025)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13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02 · LITERATURE DEEP-DIVE · PREDICTION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NexusSched: From Reactive to Predictive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640080" y="1600200"/>
            <a:ext cx="10881000" cy="1234080"/>
          </a:xfrm>
          <a:prstGeom prst="roundRect">
            <a:avLst>
              <a:gd name="adj" fmla="val 7407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914400" y="1600200"/>
            <a:ext cx="103323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NexusSched builds a structurally-informed performance model that forecasts each replica's near-future capacity — including, as one tunable signal, a session-affinity term for cached prefixes — instead of relying on stale, rolling-average metrics.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640080" y="306324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00a8e8"/>
                </a:solidFill>
                <a:latin typeface="Calibri"/>
                <a:ea typeface="Calibri"/>
              </a:rPr>
              <a:t>WHAT IT NAMES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3474720" y="306324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e28"/>
                </a:solidFill>
                <a:latin typeface="Calibri"/>
                <a:ea typeface="Calibri"/>
              </a:rPr>
              <a:t>It names the core problem directly: “decision lag” — the router acting on coarse, already-stale metrics — and closes it with LENS (engine-layer) and PRISM (cluster-layer) forward-looking prediction.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640080" y="388620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00a8e8"/>
                </a:solidFill>
                <a:latin typeface="Calibri"/>
                <a:ea typeface="Calibri"/>
              </a:rPr>
              <a:t>WHAT IT GIVES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3474720" y="388620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e28"/>
                </a:solidFill>
                <a:latin typeface="Calibri"/>
                <a:ea typeface="Calibri"/>
              </a:rPr>
              <a:t>A 43% average improvement in SLO attainment and up to 3× throughput speedup in heterogeneous, long-context scenarios, validated in a production deployment at FlowGPT.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640080" y="4709160"/>
            <a:ext cx="2651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6b5b"/>
                </a:solidFill>
                <a:latin typeface="Calibri"/>
                <a:ea typeface="Calibri"/>
              </a:rPr>
              <a:t>THE LIMITATION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3474720" y="470916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1b1e28"/>
                </a:solidFill>
                <a:latin typeface="Calibri"/>
                <a:ea typeface="Calibri"/>
              </a:rPr>
              <a:t>Its scoring optimizes aggregate, cluster-wide performance — it has no per-tenant fairness objective, so a predictive router can quietly favor whichever tenant is easiest to forecast.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640080" y="6419160"/>
            <a:ext cx="969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aa5b4"/>
                </a:solidFill>
                <a:latin typeface="Calibri"/>
                <a:ea typeface="Calibri"/>
              </a:rPr>
              <a:t>▸ </a:t>
            </a:r>
            <a:r>
              <a:rPr b="0" i="1" lang="en-US" sz="950" spc="-1" strike="noStrike">
                <a:solidFill>
                  <a:srgbClr val="9aa5b4"/>
                </a:solidFill>
                <a:latin typeface="Calibri"/>
                <a:ea typeface="Calibri"/>
              </a:rPr>
              <a:t>NexusSched: A Predictive and Synergistic Two-Layer Scheduling Framework for LLM Serving (Zhang et al., 2025) §5.2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14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02 · SYNTHESIS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Three Breakthroughs, Three Blind Spots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61" name="Table 0"/>
          <p:cNvGraphicFramePr/>
          <p:nvPr/>
        </p:nvGraphicFramePr>
        <p:xfrm>
          <a:off x="640080" y="1783080"/>
          <a:ext cx="11063880" cy="292608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1554480"/>
                <a:gridCol w="1554480"/>
                <a:gridCol w="1554480"/>
              </a:tblGrid>
              <a:tr h="731520"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Breakthrough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Solves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Locality?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Fairness?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Predictive?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</a:tr>
              <a:tr h="731520"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Preble (2024)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Cache reuse in routing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1e8e5a"/>
                          </a:solidFill>
                          <a:latin typeface="Calibri"/>
                        </a:rPr>
                        <a:t>Yes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d99a2b"/>
                          </a:solidFill>
                          <a:latin typeface="Calibri"/>
                        </a:rPr>
                        <a:t>Partial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6b5b"/>
                          </a:solidFill>
                          <a:latin typeface="Calibri"/>
                        </a:rPr>
                        <a:t>No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731520"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D²LPM (2025)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Fair + locality-aware scheduling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1e8e5a"/>
                          </a:solidFill>
                          <a:latin typeface="Calibri"/>
                        </a:rPr>
                        <a:t>Yes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1e8e5a"/>
                          </a:solidFill>
                          <a:latin typeface="Calibri"/>
                        </a:rPr>
                        <a:t>Yes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6b5b"/>
                          </a:solidFill>
                          <a:latin typeface="Calibri"/>
                        </a:rPr>
                        <a:t>No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NexusSched (2025)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Predictive routing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d99a2b"/>
                          </a:solidFill>
                          <a:latin typeface="Calibri"/>
                        </a:rPr>
                        <a:t>Partial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6b5b"/>
                          </a:solidFill>
                          <a:latin typeface="Calibri"/>
                        </a:rPr>
                        <a:t>No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63360" rIns="63360" tIns="63360" bIns="633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1e8e5a"/>
                          </a:solidFill>
                          <a:latin typeface="Calibri"/>
                        </a:rPr>
                        <a:t>Yes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162" name="Text 2"/>
          <p:cNvSpPr/>
          <p:nvPr/>
        </p:nvSpPr>
        <p:spPr>
          <a:xfrm>
            <a:off x="640080" y="502920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“</a:t>
            </a:r>
            <a:r>
              <a:rPr b="0" i="1" lang="en-US" sz="1250" spc="-1" strike="noStrike">
                <a:solidFill>
                  <a:srgbClr val="5b6472"/>
                </a:solidFill>
                <a:latin typeface="Calibri"/>
                <a:ea typeface="Calibri"/>
              </a:rPr>
              <a:t>Partial” = present as a minor signal, not the system's core guarantee or focus. Even so, no system delivers all three as a strong, primary design goal.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640080" y="6419160"/>
            <a:ext cx="9692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aa5b4"/>
                </a:solidFill>
                <a:latin typeface="Calibri"/>
                <a:ea typeface="Calibri"/>
              </a:rPr>
              <a:t>▸ </a:t>
            </a:r>
            <a:r>
              <a:rPr b="0" i="1" lang="en-US" sz="950" spc="-1" strike="noStrike">
                <a:solidFill>
                  <a:srgbClr val="9aa5b4"/>
                </a:solidFill>
                <a:latin typeface="Calibri"/>
                <a:ea typeface="Calibri"/>
              </a:rPr>
              <a:t>Preble §6 (priority queue); D²LPM §6.2 (Preble comparison, own guarantee); NexusSched §5.2 (session-affinity term)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15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-1828800" y="4572000"/>
            <a:ext cx="4571640" cy="4571640"/>
          </a:xfrm>
          <a:prstGeom prst="ellipse">
            <a:avLst/>
          </a:prstGeom>
          <a:solidFill>
            <a:srgbClr val="1f30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02 · THE RESEARCH GAP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548640" y="1188720"/>
            <a:ext cx="1828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0" spc="-1" strike="noStrike">
                <a:solidFill>
                  <a:srgbClr val="1f3057"/>
                </a:solidFill>
                <a:latin typeface="Cambria"/>
                <a:ea typeface="Cambria"/>
              </a:rPr>
              <a:t>“</a:t>
            </a:r>
            <a:endParaRPr b="0" lang="en-US" sz="9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914400" y="2286000"/>
            <a:ext cx="102409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3399"/>
              </a:lnSpc>
              <a:tabLst>
                <a:tab algn="l" pos="0"/>
              </a:tabLst>
            </a:pPr>
            <a:r>
              <a:rPr b="1" i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D²LPM has fairness and locality, but not foresight.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399"/>
              </a:lnSpc>
              <a:tabLst>
                <a:tab algn="l" pos="0"/>
              </a:tabLst>
            </a:pPr>
            <a:r>
              <a:rPr b="1" i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NexusSched has foresight, but not fairness.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3399"/>
              </a:lnSpc>
              <a:tabLst>
                <a:tab algn="l" pos="0"/>
              </a:tabLst>
            </a:pPr>
            <a:r>
              <a:rPr b="1" i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No system in the literature has all three.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914400" y="45720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a8e8"/>
                </a:solidFill>
                <a:latin typeface="Cambria"/>
                <a:ea typeface="Calibri"/>
              </a:rPr>
              <a:t>This is the gap </a:t>
            </a:r>
            <a:r>
              <a:rPr b="1" lang="en-US" sz="1600" spc="-1" strike="noStrike">
                <a:solidFill>
                  <a:srgbClr val="00a8e8"/>
                </a:solidFill>
                <a:latin typeface="Cambria"/>
                <a:ea typeface="Calibri"/>
              </a:rPr>
              <a:t>FairRoute</a:t>
            </a:r>
            <a:r>
              <a:rPr b="0" lang="en-US" sz="1600" spc="-1" strike="noStrike">
                <a:solidFill>
                  <a:srgbClr val="00a8e8"/>
                </a:solidFill>
                <a:latin typeface="Cambria"/>
                <a:ea typeface="Calibri"/>
              </a:rPr>
              <a:t> is built to close.</a:t>
            </a:r>
            <a:endParaRPr b="0" lang="en-US" sz="1600" spc="-1" strike="noStrike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914400" y="516672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9fb0d0"/>
                </a:solidFill>
                <a:latin typeface="Calibri"/>
                <a:ea typeface="Calibri"/>
              </a:rPr>
              <a:t>Neither omission is an oversight: each paper's evaluation was scoped precisely to its own question. Production traffic doesn't respect that boundary.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6b8c"/>
                </a:solidFill>
                <a:latin typeface="Calibri"/>
                <a:ea typeface="Calibri"/>
              </a:rPr>
              <a:t>16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9144000" y="-2103120"/>
            <a:ext cx="5486040" cy="5486040"/>
          </a:xfrm>
          <a:prstGeom prst="ellipse">
            <a:avLst/>
          </a:prstGeom>
          <a:solidFill>
            <a:srgbClr val="1f30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1"/>
          <p:cNvSpPr/>
          <p:nvPr/>
        </p:nvSpPr>
        <p:spPr>
          <a:xfrm>
            <a:off x="10424160" y="-822960"/>
            <a:ext cx="2742840" cy="2742840"/>
          </a:xfrm>
          <a:prstGeom prst="ellipse">
            <a:avLst/>
          </a:prstGeom>
          <a:solidFill>
            <a:srgbClr val="00a8e8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822960" y="233172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8" strike="noStrike">
                <a:solidFill>
                  <a:srgbClr val="00a8e8"/>
                </a:solidFill>
                <a:latin typeface="Calibri"/>
                <a:ea typeface="Calibri"/>
              </a:rPr>
              <a:t>SECTION 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822960" y="2743200"/>
            <a:ext cx="10058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Proposed Methodology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822960" y="4160520"/>
            <a:ext cx="9417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edf2f9"/>
                </a:solidFill>
                <a:latin typeface="Calibri"/>
                <a:ea typeface="Calibri"/>
              </a:rPr>
              <a:t>A single joint routing score, the tensions it must resolve, and how the result will be measured.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6b8c"/>
                </a:solidFill>
                <a:latin typeface="Calibri"/>
                <a:ea typeface="Calibri"/>
              </a:rPr>
              <a:t>17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03 · PROPOSED METHODOLOGY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Objectives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"/>
          <p:cNvSpPr/>
          <p:nvPr/>
        </p:nvSpPr>
        <p:spPr>
          <a:xfrm>
            <a:off x="640080" y="1691640"/>
            <a:ext cx="621360" cy="840960"/>
          </a:xfrm>
          <a:prstGeom prst="roundRect">
            <a:avLst>
              <a:gd name="adj" fmla="val 11765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640080" y="1691640"/>
            <a:ext cx="6213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e8"/>
                </a:solidFill>
                <a:latin typeface="Cambria"/>
                <a:ea typeface="Cambria"/>
              </a:rPr>
              <a:t>O1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1417320" y="167328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447"/>
                </a:solidFill>
                <a:latin typeface="Calibri"/>
                <a:ea typeface="Calibri"/>
              </a:rPr>
              <a:t>Formalize a joint routing score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5"/>
          <p:cNvSpPr/>
          <p:nvPr/>
        </p:nvSpPr>
        <p:spPr>
          <a:xfrm>
            <a:off x="1417320" y="203004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Combine a per-tenant fairness deficit, a prefix-cache affinity score, and a predicted per-replica goodput signal into one scoring function.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640080" y="2633400"/>
            <a:ext cx="621360" cy="840960"/>
          </a:xfrm>
          <a:prstGeom prst="roundRect">
            <a:avLst>
              <a:gd name="adj" fmla="val 11765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640080" y="2633400"/>
            <a:ext cx="6213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e8"/>
                </a:solidFill>
                <a:latin typeface="Cambria"/>
                <a:ea typeface="Cambria"/>
              </a:rPr>
              <a:t>O2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1417320" y="261504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447"/>
                </a:solidFill>
                <a:latin typeface="Calibri"/>
                <a:ea typeface="Calibri"/>
              </a:rPr>
              <a:t>Reproduce baselines on a common testbed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1417320" y="297180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Implement Round-Robin, Preble-style, VTC, D²LPM, and a NexusSched-style router on vLLM for apples-to-apples comparison.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640080" y="3575160"/>
            <a:ext cx="621360" cy="840960"/>
          </a:xfrm>
          <a:prstGeom prst="roundRect">
            <a:avLst>
              <a:gd name="adj" fmla="val 11765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11"/>
          <p:cNvSpPr/>
          <p:nvPr/>
        </p:nvSpPr>
        <p:spPr>
          <a:xfrm>
            <a:off x="640080" y="3575160"/>
            <a:ext cx="6213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e8"/>
                </a:solidFill>
                <a:latin typeface="Cambria"/>
                <a:ea typeface="Cambria"/>
              </a:rPr>
              <a:t>O3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1417320" y="355716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447"/>
                </a:solidFill>
                <a:latin typeface="Calibri"/>
                <a:ea typeface="Calibri"/>
              </a:rPr>
              <a:t>Design &amp; implement FairRoute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1417320" y="391356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Build the router as a drop-in replacement for the cluster-level router — the per-replica scheduler is reused unmodified.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4"/>
          <p:cNvSpPr/>
          <p:nvPr/>
        </p:nvSpPr>
        <p:spPr>
          <a:xfrm>
            <a:off x="640080" y="4517280"/>
            <a:ext cx="621360" cy="840960"/>
          </a:xfrm>
          <a:prstGeom prst="roundRect">
            <a:avLst>
              <a:gd name="adj" fmla="val 11765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5"/>
          <p:cNvSpPr/>
          <p:nvPr/>
        </p:nvSpPr>
        <p:spPr>
          <a:xfrm>
            <a:off x="640080" y="4517280"/>
            <a:ext cx="6213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e8"/>
                </a:solidFill>
                <a:latin typeface="Cambria"/>
                <a:ea typeface="Cambria"/>
              </a:rPr>
              <a:t>O4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6"/>
          <p:cNvSpPr/>
          <p:nvPr/>
        </p:nvSpPr>
        <p:spPr>
          <a:xfrm>
            <a:off x="1417320" y="449892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447"/>
                </a:solidFill>
                <a:latin typeface="Calibri"/>
                <a:ea typeface="Calibri"/>
              </a:rPr>
              <a:t>Evaluate on realistic multi-tenant traces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7"/>
          <p:cNvSpPr/>
          <p:nvPr/>
        </p:nvSpPr>
        <p:spPr>
          <a:xfrm>
            <a:off x="1417320" y="485532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Benchmark on WildChat / ShareGPT / Azure LLM Inference Trace under bursty, skewed-tenant, cache-heavy scenarios.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8"/>
          <p:cNvSpPr/>
          <p:nvPr/>
        </p:nvSpPr>
        <p:spPr>
          <a:xfrm>
            <a:off x="640080" y="5459040"/>
            <a:ext cx="621360" cy="840960"/>
          </a:xfrm>
          <a:prstGeom prst="roundRect">
            <a:avLst>
              <a:gd name="adj" fmla="val 11765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19"/>
          <p:cNvSpPr/>
          <p:nvPr/>
        </p:nvSpPr>
        <p:spPr>
          <a:xfrm>
            <a:off x="640080" y="5459040"/>
            <a:ext cx="6213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a8e8"/>
                </a:solidFill>
                <a:latin typeface="Cambria"/>
                <a:ea typeface="Cambria"/>
              </a:rPr>
              <a:t>O5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20"/>
          <p:cNvSpPr/>
          <p:nvPr/>
        </p:nvSpPr>
        <p:spPr>
          <a:xfrm>
            <a:off x="1417320" y="5440680"/>
            <a:ext cx="1014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62447"/>
                </a:solidFill>
                <a:latin typeface="Calibri"/>
                <a:ea typeface="Calibri"/>
              </a:rPr>
              <a:t>Quantify the three-way trade-off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1"/>
          <p:cNvSpPr/>
          <p:nvPr/>
        </p:nvSpPr>
        <p:spPr>
          <a:xfrm>
            <a:off x="1417320" y="579744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2"/>
                </a:solidFill>
                <a:latin typeface="Calibri"/>
                <a:ea typeface="Calibri"/>
              </a:rPr>
              <a:t>Report Fairness Index, cache-hit rate, P50/P99 TTFT &amp; TPOT, and SLO attainment across all baselines.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22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18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03 · PROPOSED METHODOLOGY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The Joint Routing Score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"/>
          <p:cNvSpPr/>
          <p:nvPr/>
        </p:nvSpPr>
        <p:spPr>
          <a:xfrm>
            <a:off x="640080" y="1691640"/>
            <a:ext cx="10881000" cy="1051200"/>
          </a:xfrm>
          <a:prstGeom prst="roundRect">
            <a:avLst>
              <a:gd name="adj" fmla="val 8696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822960" y="1691640"/>
            <a:ext cx="1051524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000" spc="-1" strike="noStrike">
                <a:solidFill>
                  <a:srgbClr val="00a8e8"/>
                </a:solidFill>
                <a:latin typeface="Cambria"/>
                <a:ea typeface="Cambria"/>
              </a:rPr>
              <a:t>Score(r, j)  =  α·Fairness(client(r))  +  β·Locality(r, j)  +  γ·Prediction(j)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640080" y="2835000"/>
            <a:ext cx="2742840" cy="1051200"/>
          </a:xfrm>
          <a:prstGeom prst="roundRect">
            <a:avLst>
              <a:gd name="adj" fmla="val 6957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777240" y="29264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447"/>
                </a:solidFill>
                <a:latin typeface="Cambria"/>
                <a:ea typeface="Cambria"/>
              </a:rPr>
              <a:t>Fairness(client)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777240" y="329220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a8e8"/>
                </a:solidFill>
                <a:latin typeface="Calibri"/>
                <a:ea typeface="Calibri"/>
              </a:rPr>
              <a:t>Extends VTC / D²LPM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3657600" y="2835000"/>
            <a:ext cx="7863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1e28"/>
                </a:solidFill>
                <a:latin typeface="Calibri"/>
                <a:ea typeface="Calibri"/>
              </a:rPr>
              <a:t>A deficit counter: target share minus virtual tokens already served for that tenant. Higher for under-served clients — the direct fairness signal.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640080" y="4023720"/>
            <a:ext cx="2742840" cy="1051200"/>
          </a:xfrm>
          <a:prstGeom prst="roundRect">
            <a:avLst>
              <a:gd name="adj" fmla="val 6957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777240" y="411516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447"/>
                </a:solidFill>
                <a:latin typeface="Cambria"/>
                <a:ea typeface="Cambria"/>
              </a:rPr>
              <a:t>Locality(r, j)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777240" y="448092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a8e8"/>
                </a:solidFill>
                <a:latin typeface="Calibri"/>
                <a:ea typeface="Calibri"/>
              </a:rPr>
              <a:t>Extends Preble / D²LPM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3657600" y="4023720"/>
            <a:ext cx="7863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1e28"/>
                </a:solidFill>
                <a:latin typeface="Calibri"/>
                <a:ea typeface="Calibri"/>
              </a:rPr>
              <a:t>Prefix-match ratio between the incoming prompt and replica j's radix-tree KV-cache index — rewards routing toward an existing cache hit.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2"/>
          <p:cNvSpPr/>
          <p:nvPr/>
        </p:nvSpPr>
        <p:spPr>
          <a:xfrm>
            <a:off x="640080" y="5212440"/>
            <a:ext cx="2742840" cy="1051200"/>
          </a:xfrm>
          <a:prstGeom prst="roundRect">
            <a:avLst>
              <a:gd name="adj" fmla="val 6957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777240" y="530388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447"/>
                </a:solidFill>
                <a:latin typeface="Cambria"/>
                <a:ea typeface="Cambria"/>
              </a:rPr>
              <a:t>Prediction(j)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777240" y="56696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a8e8"/>
                </a:solidFill>
                <a:latin typeface="Calibri"/>
                <a:ea typeface="Calibri"/>
              </a:rPr>
              <a:t>Informed by NexusSched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3657600" y="5212440"/>
            <a:ext cx="7863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1e28"/>
                </a:solidFill>
                <a:latin typeface="Calibri"/>
                <a:ea typeface="Calibri"/>
              </a:rPr>
              <a:t>Forecasted near-future capacity of replica j from a lightweight per-replica performance model: predicted queueing delay and free KV-cache budget.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640080" y="626364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9aa5b4"/>
                </a:solidFill>
                <a:latin typeface="Calibri"/>
                <a:ea typeface="Calibri"/>
              </a:rPr>
              <a:t>α, β, γ are tunable weights (default equal); the evaluation plan later in this section covers the sensitivity sweep over them.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19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03 · PROPOSED METHODOLOGY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Three Tensions the Design Must Resolve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2"/>
          <p:cNvSpPr/>
          <p:nvPr/>
        </p:nvSpPr>
        <p:spPr>
          <a:xfrm>
            <a:off x="640080" y="1691640"/>
            <a:ext cx="566640" cy="1234080"/>
          </a:xfrm>
          <a:prstGeom prst="roundRect">
            <a:avLst>
              <a:gd name="adj" fmla="val 12903"/>
            </a:avLst>
          </a:prstGeom>
          <a:solidFill>
            <a:srgbClr val="00a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3"/>
          <p:cNvSpPr/>
          <p:nvPr/>
        </p:nvSpPr>
        <p:spPr>
          <a:xfrm>
            <a:off x="640080" y="1691640"/>
            <a:ext cx="5666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62447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4"/>
          <p:cNvSpPr/>
          <p:nvPr/>
        </p:nvSpPr>
        <p:spPr>
          <a:xfrm>
            <a:off x="1371600" y="1673280"/>
            <a:ext cx="996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447"/>
                </a:solidFill>
                <a:latin typeface="Calibri"/>
                <a:ea typeface="Calibri"/>
              </a:rPr>
              <a:t>Fairness vs. Locality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5"/>
          <p:cNvSpPr/>
          <p:nvPr/>
        </p:nvSpPr>
        <p:spPr>
          <a:xfrm>
            <a:off x="1371600" y="2057400"/>
            <a:ext cx="9966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1b1e28"/>
                </a:solidFill>
                <a:latin typeface="Calibri"/>
                <a:ea typeface="Calibri"/>
              </a:rPr>
              <a:t>Routing purely toward the best cache match lets cache-friendly clients dominate the cluster. 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1b1e28"/>
                </a:solidFill>
                <a:latin typeface="Calibri"/>
                <a:ea typeface="Calibri"/>
              </a:rPr>
              <a:t>FairRoute keeps D²LPM's deficit-based balancing as a hard counter-weight rather than discarding it for a purely locality-optimal score.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6"/>
          <p:cNvSpPr/>
          <p:nvPr/>
        </p:nvSpPr>
        <p:spPr>
          <a:xfrm>
            <a:off x="640080" y="3090600"/>
            <a:ext cx="566640" cy="1234080"/>
          </a:xfrm>
          <a:prstGeom prst="roundRect">
            <a:avLst>
              <a:gd name="adj" fmla="val 12903"/>
            </a:avLst>
          </a:prstGeom>
          <a:solidFill>
            <a:srgbClr val="d99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640080" y="3090600"/>
            <a:ext cx="5666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62447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8"/>
          <p:cNvSpPr/>
          <p:nvPr/>
        </p:nvSpPr>
        <p:spPr>
          <a:xfrm>
            <a:off x="1371600" y="3072240"/>
            <a:ext cx="996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447"/>
                </a:solidFill>
                <a:latin typeface="Calibri"/>
                <a:ea typeface="Calibri"/>
              </a:rPr>
              <a:t>Locality vs. Load Balance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9"/>
          <p:cNvSpPr/>
          <p:nvPr/>
        </p:nvSpPr>
        <p:spPr>
          <a:xfrm>
            <a:off x="1371600" y="3456360"/>
            <a:ext cx="9966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1b1e28"/>
                </a:solidFill>
                <a:latin typeface="Calibri"/>
                <a:ea typeface="Calibri"/>
              </a:rPr>
              <a:t>A predictive model that always forecasts one replica as best will concentrate load exactly where locality already concentrates it. 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1b1e28"/>
                </a:solidFill>
                <a:latin typeface="Calibri"/>
                <a:ea typeface="Calibri"/>
              </a:rPr>
              <a:t>A SkyWalker-style “selective pushing” guard caps how many consecutive requests one replica can win on locality alone.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640080" y="4489560"/>
            <a:ext cx="566640" cy="1234080"/>
          </a:xfrm>
          <a:prstGeom prst="roundRect">
            <a:avLst>
              <a:gd name="adj" fmla="val 12903"/>
            </a:avLst>
          </a:prstGeom>
          <a:solidFill>
            <a:srgbClr val="ff6b5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1"/>
          <p:cNvSpPr/>
          <p:nvPr/>
        </p:nvSpPr>
        <p:spPr>
          <a:xfrm>
            <a:off x="640080" y="4489560"/>
            <a:ext cx="5666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62447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1371600" y="4471560"/>
            <a:ext cx="9966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447"/>
                </a:solidFill>
                <a:latin typeface="Calibri"/>
                <a:ea typeface="Calibri"/>
              </a:rPr>
              <a:t>Fairness Debt vs. Predicted Load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1371600" y="4855320"/>
            <a:ext cx="99666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1b1e28"/>
                </a:solidFill>
                <a:latin typeface="Calibri"/>
                <a:ea typeface="Calibri"/>
              </a:rPr>
              <a:t>A client owed priority under the deficit scheme may be best served, right now, by a replica the predictive model forecasts will soon be memory-pressured. FairRoute resolves this by weighting recency of fairness debt against forecast confidence — an open question with no prior answer in the literature.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4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20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03 · PROPOSED METHODOLOGY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Routing Decision — Per-Request Algorithm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"/>
          <p:cNvSpPr/>
          <p:nvPr/>
        </p:nvSpPr>
        <p:spPr>
          <a:xfrm>
            <a:off x="640080" y="1691640"/>
            <a:ext cx="10881000" cy="4160160"/>
          </a:xfrm>
          <a:prstGeom prst="roundRect">
            <a:avLst>
              <a:gd name="adj" fmla="val 2198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960120" y="1920240"/>
            <a:ext cx="1024092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f2f9"/>
                </a:solidFill>
                <a:latin typeface="Courier New"/>
                <a:ea typeface="Courier New"/>
              </a:rPr>
              <a:t>1.  Request r arrives for client c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f2f9"/>
                </a:solidFill>
                <a:latin typeface="Courier New"/>
                <a:ea typeface="Courier New"/>
              </a:rPr>
              <a:t>2.  Fairness Tracker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f2f9"/>
                </a:solidFill>
                <a:latin typeface="Courier New"/>
                <a:ea typeface="Courier New"/>
              </a:rPr>
              <a:t>3.  Locality Estimator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f2f9"/>
                </a:solidFill>
                <a:latin typeface="Courier New"/>
                <a:ea typeface="Courier New"/>
              </a:rPr>
              <a:t>4.  Prediction Engine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f2f9"/>
                </a:solidFill>
                <a:latin typeface="Courier New"/>
                <a:ea typeface="Courier New"/>
              </a:rPr>
              <a:t>5.  Scoring &amp; Decision Engine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f2f9"/>
                </a:solidFill>
                <a:latin typeface="Courier New"/>
                <a:ea typeface="Courier New"/>
              </a:rPr>
              <a:t>6.  Apply overload guard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f2f9"/>
                </a:solidFill>
                <a:latin typeface="Courier New"/>
                <a:ea typeface="Courier New"/>
              </a:rPr>
              <a:t>7.  Route r to argmaxⱼ Score(r, j), where replica is denoted by j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f2f9"/>
                </a:solidFill>
                <a:latin typeface="Courier New"/>
                <a:ea typeface="Courier New"/>
              </a:rPr>
              <a:t>8.  On completion, update c's virtual-token counter and feed observed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f2f9"/>
                </a:solidFill>
                <a:latin typeface="Courier New"/>
                <a:ea typeface="Courier New"/>
              </a:rPr>
              <a:t>    </a:t>
            </a:r>
            <a:r>
              <a:rPr b="0" lang="en-US" sz="1500" spc="-1" strike="noStrike">
                <a:solidFill>
                  <a:srgbClr val="edf2f9"/>
                </a:solidFill>
                <a:latin typeface="Courier New"/>
                <a:ea typeface="Courier New"/>
              </a:rPr>
              <a:t>latency back to prediction engine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21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03 · PROPOSED METHODOLOGY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Evaluation Plan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1" name="Table 0"/>
          <p:cNvGraphicFramePr/>
          <p:nvPr/>
        </p:nvGraphicFramePr>
        <p:xfrm>
          <a:off x="640080" y="1737360"/>
          <a:ext cx="10881000" cy="38862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206240"/>
              </a:tblGrid>
              <a:tr h="777240"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Baselines Compared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Metric(s)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</a:tr>
              <a:tr h="777240"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Fairness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VTC, D²LPM, Round-Robin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Jain's Fairness Index across tenants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777240"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Locality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Preble, D²LPM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Prefix-cache hit rate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Prediction / SLO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NexusSched-style, Round-Robin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P50 / P99 TTFT &amp; TPOT, SLO attainment %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777240"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Joint (novel)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All five baselines vs. FairRoute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Simultaneous fairness + locality + SLO under skewed, bursty, adversarial-tenant traffic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2" name="Shape 2"/>
          <p:cNvSpPr/>
          <p:nvPr/>
        </p:nvSpPr>
        <p:spPr>
          <a:xfrm>
            <a:off x="640080" y="5074920"/>
            <a:ext cx="10881000" cy="91404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"/>
          <p:cNvSpPr/>
          <p:nvPr/>
        </p:nvSpPr>
        <p:spPr>
          <a:xfrm>
            <a:off x="868680" y="5074920"/>
            <a:ext cx="10423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162447"/>
                </a:solidFill>
                <a:latin typeface="Calibri"/>
                <a:ea typeface="Calibri"/>
              </a:rPr>
              <a:t>Traces: WildChat, ShareGPT, Azure LLM Inference Trace — replayed under scenarios that stress both fairness and prediction at once, which Section 2 showed no existing evaluation currently does.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4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22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9144000" y="-2103120"/>
            <a:ext cx="5486040" cy="5486040"/>
          </a:xfrm>
          <a:prstGeom prst="ellipse">
            <a:avLst/>
          </a:prstGeom>
          <a:solidFill>
            <a:srgbClr val="1f30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1"/>
          <p:cNvSpPr/>
          <p:nvPr/>
        </p:nvSpPr>
        <p:spPr>
          <a:xfrm>
            <a:off x="10424160" y="-822960"/>
            <a:ext cx="2742840" cy="2742840"/>
          </a:xfrm>
          <a:prstGeom prst="ellipse">
            <a:avLst/>
          </a:prstGeom>
          <a:solidFill>
            <a:srgbClr val="00a8e8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822960" y="233172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8" strike="noStrike">
                <a:solidFill>
                  <a:srgbClr val="00a8e8"/>
                </a:solidFill>
                <a:latin typeface="Calibri"/>
                <a:ea typeface="Calibri"/>
              </a:rPr>
              <a:t>SECTION 4 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822960" y="2743200"/>
            <a:ext cx="10058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Module Description &amp; System Design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822960" y="4160520"/>
            <a:ext cx="9417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edf2f9"/>
                </a:solidFill>
                <a:latin typeface="Calibri"/>
                <a:ea typeface="Calibri"/>
              </a:rPr>
              <a:t>FairRoute as a drop-in cluster router: architecture, modules, and the testbed that will prove it out.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d6b8c"/>
                </a:solidFill>
                <a:latin typeface="Calibri"/>
                <a:ea typeface="Calibri"/>
              </a:rPr>
              <a:t>23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04 · SYSTEM DESIGN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System Architecture — Two-Tier Cluster Router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640080" y="1691640"/>
            <a:ext cx="1828440" cy="822600"/>
          </a:xfrm>
          <a:prstGeom prst="roundRect">
            <a:avLst>
              <a:gd name="adj" fmla="val 8889"/>
            </a:avLst>
          </a:prstGeom>
          <a:solidFill>
            <a:srgbClr val="e4e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3"/>
          <p:cNvSpPr/>
          <p:nvPr/>
        </p:nvSpPr>
        <p:spPr>
          <a:xfrm>
            <a:off x="640080" y="1691640"/>
            <a:ext cx="1828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62447"/>
                </a:solidFill>
                <a:latin typeface="Calibri"/>
                <a:ea typeface="Calibri"/>
              </a:rPr>
              <a:t>Tenants /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62447"/>
                </a:solidFill>
                <a:latin typeface="Calibri"/>
                <a:ea typeface="Calibri"/>
              </a:rPr>
              <a:t>Clients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4"/>
          <p:cNvSpPr/>
          <p:nvPr/>
        </p:nvSpPr>
        <p:spPr>
          <a:xfrm>
            <a:off x="2606040" y="1965960"/>
            <a:ext cx="36540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d2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3108960" y="1417320"/>
            <a:ext cx="5577480" cy="2925720"/>
          </a:xfrm>
          <a:prstGeom prst="roundRect">
            <a:avLst>
              <a:gd name="adj" fmla="val 3125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6"/>
          <p:cNvSpPr/>
          <p:nvPr/>
        </p:nvSpPr>
        <p:spPr>
          <a:xfrm>
            <a:off x="3291840" y="153612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00a8e8"/>
                </a:solidFill>
                <a:latin typeface="Calibri"/>
                <a:ea typeface="Calibri"/>
              </a:rPr>
              <a:t>FAIRROUTE — CLUSTER-LEVEL ROUTER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7"/>
          <p:cNvSpPr/>
          <p:nvPr/>
        </p:nvSpPr>
        <p:spPr>
          <a:xfrm>
            <a:off x="3337560" y="2011680"/>
            <a:ext cx="1170000" cy="1005480"/>
          </a:xfrm>
          <a:prstGeom prst="roundRect">
            <a:avLst>
              <a:gd name="adj" fmla="val 6364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8"/>
          <p:cNvSpPr/>
          <p:nvPr/>
        </p:nvSpPr>
        <p:spPr>
          <a:xfrm>
            <a:off x="3337560" y="2011680"/>
            <a:ext cx="1170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2447"/>
                </a:solidFill>
                <a:latin typeface="Calibri"/>
                <a:ea typeface="Calibri"/>
              </a:rPr>
              <a:t>Fairness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2447"/>
                </a:solidFill>
                <a:latin typeface="Calibri"/>
                <a:ea typeface="Calibri"/>
              </a:rPr>
              <a:t>Tracker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9"/>
          <p:cNvSpPr/>
          <p:nvPr/>
        </p:nvSpPr>
        <p:spPr>
          <a:xfrm>
            <a:off x="4617720" y="2011680"/>
            <a:ext cx="1170000" cy="1005480"/>
          </a:xfrm>
          <a:prstGeom prst="roundRect">
            <a:avLst>
              <a:gd name="adj" fmla="val 6364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0"/>
          <p:cNvSpPr/>
          <p:nvPr/>
        </p:nvSpPr>
        <p:spPr>
          <a:xfrm>
            <a:off x="4617720" y="2011680"/>
            <a:ext cx="1170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2447"/>
                </a:solidFill>
                <a:latin typeface="Calibri"/>
                <a:ea typeface="Calibri"/>
              </a:rPr>
              <a:t>Locality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2447"/>
                </a:solidFill>
                <a:latin typeface="Calibri"/>
                <a:ea typeface="Calibri"/>
              </a:rPr>
              <a:t>Estimator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11"/>
          <p:cNvSpPr/>
          <p:nvPr/>
        </p:nvSpPr>
        <p:spPr>
          <a:xfrm>
            <a:off x="5897880" y="2011680"/>
            <a:ext cx="1170000" cy="1005480"/>
          </a:xfrm>
          <a:prstGeom prst="roundRect">
            <a:avLst>
              <a:gd name="adj" fmla="val 6364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2"/>
          <p:cNvSpPr/>
          <p:nvPr/>
        </p:nvSpPr>
        <p:spPr>
          <a:xfrm>
            <a:off x="5897880" y="2011680"/>
            <a:ext cx="1170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2447"/>
                </a:solidFill>
                <a:latin typeface="Calibri"/>
                <a:ea typeface="Calibri"/>
              </a:rPr>
              <a:t>Prediction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2447"/>
                </a:solidFill>
                <a:latin typeface="Calibri"/>
                <a:ea typeface="Calibri"/>
              </a:rPr>
              <a:t>Engine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3"/>
          <p:cNvSpPr/>
          <p:nvPr/>
        </p:nvSpPr>
        <p:spPr>
          <a:xfrm>
            <a:off x="7178040" y="2011680"/>
            <a:ext cx="1170000" cy="1005480"/>
          </a:xfrm>
          <a:prstGeom prst="roundRect">
            <a:avLst>
              <a:gd name="adj" fmla="val 6364"/>
            </a:avLst>
          </a:prstGeom>
          <a:solidFill>
            <a:srgbClr val="00a8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7178040" y="2011680"/>
            <a:ext cx="1170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2447"/>
                </a:solidFill>
                <a:latin typeface="Calibri"/>
                <a:ea typeface="Calibri"/>
              </a:rPr>
              <a:t>Scoring &amp;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62447"/>
                </a:solidFill>
                <a:latin typeface="Calibri"/>
                <a:ea typeface="Calibri"/>
              </a:rPr>
              <a:t>Decision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5"/>
          <p:cNvSpPr/>
          <p:nvPr/>
        </p:nvSpPr>
        <p:spPr>
          <a:xfrm>
            <a:off x="3291840" y="3200400"/>
            <a:ext cx="521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edf2f9"/>
                </a:solidFill>
                <a:latin typeface="Calibri"/>
                <a:ea typeface="Calibri"/>
              </a:rPr>
              <a:t>combines all three signals → routes to best replica; applies overload guard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6"/>
          <p:cNvSpPr/>
          <p:nvPr/>
        </p:nvSpPr>
        <p:spPr>
          <a:xfrm>
            <a:off x="3291840" y="3657600"/>
            <a:ext cx="5211720" cy="548280"/>
          </a:xfrm>
          <a:prstGeom prst="roundRect">
            <a:avLst>
              <a:gd name="adj" fmla="val 10000"/>
            </a:avLst>
          </a:prstGeom>
          <a:solidFill>
            <a:srgbClr val="1f30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7"/>
          <p:cNvSpPr/>
          <p:nvPr/>
        </p:nvSpPr>
        <p:spPr>
          <a:xfrm>
            <a:off x="3429000" y="365760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a8e8"/>
                </a:solidFill>
                <a:latin typeface="Calibri"/>
                <a:ea typeface="Calibri"/>
              </a:rPr>
              <a:t>Telemetry / Feedback Loop — updates fairness ledger + trains prediction model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18"/>
          <p:cNvSpPr/>
          <p:nvPr/>
        </p:nvSpPr>
        <p:spPr>
          <a:xfrm>
            <a:off x="8823960" y="2651760"/>
            <a:ext cx="36540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7d2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19"/>
          <p:cNvSpPr/>
          <p:nvPr/>
        </p:nvSpPr>
        <p:spPr>
          <a:xfrm>
            <a:off x="9326880" y="1600200"/>
            <a:ext cx="2194200" cy="776880"/>
          </a:xfrm>
          <a:prstGeom prst="roundRect">
            <a:avLst>
              <a:gd name="adj" fmla="val 9412"/>
            </a:avLst>
          </a:prstGeom>
          <a:solidFill>
            <a:srgbClr val="edf2f9"/>
          </a:solidFill>
          <a:ln w="12700">
            <a:solidFill>
              <a:srgbClr val="1624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20"/>
          <p:cNvSpPr/>
          <p:nvPr/>
        </p:nvSpPr>
        <p:spPr>
          <a:xfrm>
            <a:off x="9326880" y="1600200"/>
            <a:ext cx="2194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62447"/>
                </a:solidFill>
                <a:latin typeface="Calibri"/>
                <a:ea typeface="Calibri"/>
              </a:rPr>
              <a:t>Replica 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62447"/>
                </a:solidFill>
                <a:latin typeface="Calibri"/>
                <a:ea typeface="Calibri"/>
              </a:rPr>
              <a:t>(vLLM engine)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21"/>
          <p:cNvSpPr/>
          <p:nvPr/>
        </p:nvSpPr>
        <p:spPr>
          <a:xfrm>
            <a:off x="9326880" y="2560320"/>
            <a:ext cx="2194200" cy="776880"/>
          </a:xfrm>
          <a:prstGeom prst="roundRect">
            <a:avLst>
              <a:gd name="adj" fmla="val 9412"/>
            </a:avLst>
          </a:prstGeom>
          <a:solidFill>
            <a:srgbClr val="edf2f9"/>
          </a:solidFill>
          <a:ln w="12700">
            <a:solidFill>
              <a:srgbClr val="1624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22"/>
          <p:cNvSpPr/>
          <p:nvPr/>
        </p:nvSpPr>
        <p:spPr>
          <a:xfrm>
            <a:off x="9326880" y="2560320"/>
            <a:ext cx="2194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62447"/>
                </a:solidFill>
                <a:latin typeface="Calibri"/>
                <a:ea typeface="Calibri"/>
              </a:rPr>
              <a:t>Replica 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62447"/>
                </a:solidFill>
                <a:latin typeface="Calibri"/>
                <a:ea typeface="Calibri"/>
              </a:rPr>
              <a:t>(vLLM engine)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23"/>
          <p:cNvSpPr/>
          <p:nvPr/>
        </p:nvSpPr>
        <p:spPr>
          <a:xfrm>
            <a:off x="9326880" y="3520440"/>
            <a:ext cx="2194200" cy="776880"/>
          </a:xfrm>
          <a:prstGeom prst="roundRect">
            <a:avLst>
              <a:gd name="adj" fmla="val 9412"/>
            </a:avLst>
          </a:prstGeom>
          <a:solidFill>
            <a:srgbClr val="edf2f9"/>
          </a:solidFill>
          <a:ln w="12700">
            <a:solidFill>
              <a:srgbClr val="1624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4"/>
          <p:cNvSpPr/>
          <p:nvPr/>
        </p:nvSpPr>
        <p:spPr>
          <a:xfrm>
            <a:off x="9326880" y="3520440"/>
            <a:ext cx="2194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62447"/>
                </a:solidFill>
                <a:latin typeface="Calibri"/>
                <a:ea typeface="Calibri"/>
              </a:rPr>
              <a:t>Replica 3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62447"/>
                </a:solidFill>
                <a:latin typeface="Calibri"/>
                <a:ea typeface="Calibri"/>
              </a:rPr>
              <a:t>(vLLM engine)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25"/>
          <p:cNvSpPr/>
          <p:nvPr/>
        </p:nvSpPr>
        <p:spPr>
          <a:xfrm flipV="1">
            <a:off x="9326880" y="3703320"/>
            <a:ext cx="360" cy="45720"/>
          </a:xfrm>
          <a:prstGeom prst="line">
            <a:avLst/>
          </a:prstGeom>
          <a:ln w="12700">
            <a:solidFill>
              <a:srgbClr val="c7d2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26"/>
          <p:cNvSpPr/>
          <p:nvPr/>
        </p:nvSpPr>
        <p:spPr>
          <a:xfrm flipV="1">
            <a:off x="8778240" y="2010960"/>
            <a:ext cx="566640" cy="2011320"/>
          </a:xfrm>
          <a:prstGeom prst="bentConnector2">
            <a:avLst/>
          </a:prstGeom>
          <a:noFill/>
          <a:ln w="15875">
            <a:solidFill>
              <a:srgbClr val="c7d2e3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28"/>
          <p:cNvSpPr/>
          <p:nvPr/>
        </p:nvSpPr>
        <p:spPr>
          <a:xfrm>
            <a:off x="549000" y="4572000"/>
            <a:ext cx="10881000" cy="2057400"/>
          </a:xfrm>
          <a:prstGeom prst="roundRect">
            <a:avLst>
              <a:gd name="adj" fmla="val 7619"/>
            </a:avLst>
          </a:prstGeom>
          <a:solidFill>
            <a:srgbClr val="e4e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29"/>
          <p:cNvSpPr/>
          <p:nvPr/>
        </p:nvSpPr>
        <p:spPr>
          <a:xfrm>
            <a:off x="777600" y="4800600"/>
            <a:ext cx="4480200" cy="16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Scope for Project-I: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1. Homogeneous-replica cluster (uniform GPU / model)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2. 2–4 GPU simulated or small-scale deployment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3. Routing layer only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30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24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1"/>
          <p:cNvSpPr/>
          <p:nvPr/>
        </p:nvSpPr>
        <p:spPr>
          <a:xfrm>
            <a:off x="5715000" y="4800600"/>
            <a:ext cx="4480200" cy="16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Out of Scope: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1. Heterogeneous replicas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2. MoE-specific routing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b6472"/>
                </a:solidFill>
                <a:latin typeface="Calibri"/>
                <a:ea typeface="Calibri"/>
              </a:rPr>
              <a:t>3. Formal worst-case guarantees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04 · SYSTEM DESIGN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Module Description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84" name="Table 0"/>
          <p:cNvGraphicFramePr/>
          <p:nvPr/>
        </p:nvGraphicFramePr>
        <p:xfrm>
          <a:off x="640080" y="1508760"/>
          <a:ext cx="10881000" cy="4242600"/>
        </p:xfrm>
        <a:graphic>
          <a:graphicData uri="http://schemas.openxmlformats.org/drawingml/2006/table">
            <a:tbl>
              <a:tblPr/>
              <a:tblGrid>
                <a:gridCol w="2651760"/>
                <a:gridCol w="6309360"/>
                <a:gridCol w="1920240"/>
              </a:tblGrid>
              <a:tr h="530280"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Responsibility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Built On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162447"/>
                    </a:solidFill>
                  </a:tcPr>
                </a:tc>
              </a:tr>
              <a:tr h="530280"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Fairness Tracker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Maintains a per-tenant virtual-token deficit counter; updated on every request completion.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Extends VTC / D²LPM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530280"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Locality Estimator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Radix-tree index of cached prefixes per replica; returns a prefix-match ratio for each candidate.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Extends Preble / D²LPM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Prediction Engine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Lightweight per-replica performance model forecasting queueing delay and free KV budget.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Informed by NexusSched (LENS / PRISM)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530280"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Scoring &amp; Decision Engine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Combines the three signals with tunable weights, applies the overload guard, 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resolves the three design tensions.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Novel to FairRoute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Telemetry / Feedback Loop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Streams post-completion latency and KV occupancy back to the 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Fairness Tracker and Prediction Engine.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Novel to FairRoute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  <a:tr h="530280"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Baseline Router Bank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Reproductions of Round-Robin, Preble-style, VTC, D²LPM, NexusSched-style 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routers for controlled comparison.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Reproduced from literature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Trace Replay &amp; Eval Harness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Replays WildChat / ShareGPT / Azure traces; 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computes Jain's Index, cache-hit rate, TTFT/TPOT, SLO attainment.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  <a:tc>
                  <a:txBody>
                    <a:bodyPr lIns="37800" rIns="3780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pc="-1" strike="noStrike">
                          <a:solidFill>
                            <a:srgbClr val="1b1e28"/>
                          </a:solidFill>
                          <a:latin typeface="Calibri"/>
                        </a:rPr>
                        <a:t>Smiluation &amp; GPU Validation</a:t>
                      </a:r>
                      <a:endParaRPr b="0" lang="en-US" sz="10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7800" marR="37800">
                    <a:lnL w="9360">
                      <a:solidFill>
                        <a:srgbClr val="d7dee9"/>
                      </a:solidFill>
                      <a:prstDash val="solid"/>
                    </a:lnL>
                    <a:lnR w="9360">
                      <a:solidFill>
                        <a:srgbClr val="d7dee9"/>
                      </a:solidFill>
                      <a:prstDash val="solid"/>
                    </a:lnR>
                    <a:lnT w="9360">
                      <a:solidFill>
                        <a:srgbClr val="d7dee9"/>
                      </a:solidFill>
                      <a:prstDash val="solid"/>
                    </a:lnT>
                    <a:lnB w="9360">
                      <a:solidFill>
                        <a:srgbClr val="d7dee9"/>
                      </a:solidFill>
                      <a:prstDash val="solid"/>
                    </a:lnB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285" name="Text 2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25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04 · SYSTEM DESIGN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Request Lifecycle — Data Flow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2"/>
          <p:cNvSpPr/>
          <p:nvPr/>
        </p:nvSpPr>
        <p:spPr>
          <a:xfrm>
            <a:off x="640080" y="1737360"/>
            <a:ext cx="548280" cy="776880"/>
          </a:xfrm>
          <a:prstGeom prst="roundRect">
            <a:avLst>
              <a:gd name="adj" fmla="val 50000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3"/>
          <p:cNvSpPr/>
          <p:nvPr/>
        </p:nvSpPr>
        <p:spPr>
          <a:xfrm>
            <a:off x="640080" y="173736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a8e8"/>
                </a:solidFill>
                <a:latin typeface="Cambria"/>
                <a:ea typeface="Cambria"/>
              </a:rPr>
              <a:t>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4"/>
          <p:cNvSpPr/>
          <p:nvPr/>
        </p:nvSpPr>
        <p:spPr>
          <a:xfrm>
            <a:off x="1417320" y="171900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447"/>
                </a:solidFill>
                <a:latin typeface="Calibri"/>
                <a:ea typeface="Calibri"/>
              </a:rPr>
              <a:t>Arrival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5"/>
          <p:cNvSpPr/>
          <p:nvPr/>
        </p:nvSpPr>
        <p:spPr>
          <a:xfrm>
            <a:off x="3794760" y="1737360"/>
            <a:ext cx="7726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1e28"/>
                </a:solidFill>
                <a:latin typeface="Calibri"/>
                <a:ea typeface="Calibri"/>
              </a:rPr>
              <a:t>Request r arrives at FairRoute; client c is identified from the API key / tenant header.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6"/>
          <p:cNvSpPr/>
          <p:nvPr/>
        </p:nvSpPr>
        <p:spPr>
          <a:xfrm>
            <a:off x="859680" y="2532960"/>
            <a:ext cx="127800" cy="127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7d2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7"/>
          <p:cNvSpPr/>
          <p:nvPr/>
        </p:nvSpPr>
        <p:spPr>
          <a:xfrm>
            <a:off x="640080" y="2670120"/>
            <a:ext cx="548280" cy="776880"/>
          </a:xfrm>
          <a:prstGeom prst="roundRect">
            <a:avLst>
              <a:gd name="adj" fmla="val 50000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8"/>
          <p:cNvSpPr/>
          <p:nvPr/>
        </p:nvSpPr>
        <p:spPr>
          <a:xfrm>
            <a:off x="640080" y="267012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a8e8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9"/>
          <p:cNvSpPr/>
          <p:nvPr/>
        </p:nvSpPr>
        <p:spPr>
          <a:xfrm>
            <a:off x="1417320" y="265176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447"/>
                </a:solidFill>
                <a:latin typeface="Calibri"/>
                <a:ea typeface="Calibri"/>
              </a:rPr>
              <a:t>Signal collection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10"/>
          <p:cNvSpPr/>
          <p:nvPr/>
        </p:nvSpPr>
        <p:spPr>
          <a:xfrm>
            <a:off x="3794760" y="2670120"/>
            <a:ext cx="7726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1e28"/>
                </a:solidFill>
                <a:latin typeface="Calibri"/>
                <a:ea typeface="Calibri"/>
              </a:rPr>
              <a:t>Fairness Tracker, Locality Estimator, and Prediction Engine are queried in parallel for c and every candidate replica.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11"/>
          <p:cNvSpPr/>
          <p:nvPr/>
        </p:nvSpPr>
        <p:spPr>
          <a:xfrm>
            <a:off x="859680" y="3465720"/>
            <a:ext cx="127800" cy="127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7d2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12"/>
          <p:cNvSpPr/>
          <p:nvPr/>
        </p:nvSpPr>
        <p:spPr>
          <a:xfrm>
            <a:off x="640080" y="3602880"/>
            <a:ext cx="548280" cy="776880"/>
          </a:xfrm>
          <a:prstGeom prst="roundRect">
            <a:avLst>
              <a:gd name="adj" fmla="val 50000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13"/>
          <p:cNvSpPr/>
          <p:nvPr/>
        </p:nvSpPr>
        <p:spPr>
          <a:xfrm>
            <a:off x="640080" y="360288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a8e8"/>
                </a:solidFill>
                <a:latin typeface="Cambria"/>
                <a:ea typeface="Cambria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14"/>
          <p:cNvSpPr/>
          <p:nvPr/>
        </p:nvSpPr>
        <p:spPr>
          <a:xfrm>
            <a:off x="1417320" y="358452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447"/>
                </a:solidFill>
                <a:latin typeface="Calibri"/>
                <a:ea typeface="Calibri"/>
              </a:rPr>
              <a:t>Scoring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15"/>
          <p:cNvSpPr/>
          <p:nvPr/>
        </p:nvSpPr>
        <p:spPr>
          <a:xfrm>
            <a:off x="3794760" y="3602880"/>
            <a:ext cx="7726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1e28"/>
                </a:solidFill>
                <a:latin typeface="Calibri"/>
                <a:ea typeface="Calibri"/>
              </a:rPr>
              <a:t>Scoring &amp; Decision Engine computes Score(r, j) for each replica, applies the overload guard, and selects the winner.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6"/>
          <p:cNvSpPr/>
          <p:nvPr/>
        </p:nvSpPr>
        <p:spPr>
          <a:xfrm>
            <a:off x="859680" y="4398120"/>
            <a:ext cx="127800" cy="127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7d2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7"/>
          <p:cNvSpPr/>
          <p:nvPr/>
        </p:nvSpPr>
        <p:spPr>
          <a:xfrm>
            <a:off x="640080" y="4535280"/>
            <a:ext cx="548280" cy="776880"/>
          </a:xfrm>
          <a:prstGeom prst="roundRect">
            <a:avLst>
              <a:gd name="adj" fmla="val 50000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18"/>
          <p:cNvSpPr/>
          <p:nvPr/>
        </p:nvSpPr>
        <p:spPr>
          <a:xfrm>
            <a:off x="640080" y="453528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a8e8"/>
                </a:solidFill>
                <a:latin typeface="Cambria"/>
                <a:ea typeface="Cambria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19"/>
          <p:cNvSpPr/>
          <p:nvPr/>
        </p:nvSpPr>
        <p:spPr>
          <a:xfrm>
            <a:off x="1417320" y="451728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447"/>
                </a:solidFill>
                <a:latin typeface="Calibri"/>
                <a:ea typeface="Calibri"/>
              </a:rPr>
              <a:t>Dispatch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20"/>
          <p:cNvSpPr/>
          <p:nvPr/>
        </p:nvSpPr>
        <p:spPr>
          <a:xfrm>
            <a:off x="3794760" y="4535280"/>
            <a:ext cx="7726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1e28"/>
                </a:solidFill>
                <a:latin typeface="Calibri"/>
                <a:ea typeface="Calibri"/>
              </a:rPr>
              <a:t>r is forwarded to the chosen replica's unmodified vLLM / Sarathi-Serve scheduler for prefill and decode.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21"/>
          <p:cNvSpPr/>
          <p:nvPr/>
        </p:nvSpPr>
        <p:spPr>
          <a:xfrm>
            <a:off x="859680" y="5330880"/>
            <a:ext cx="127800" cy="127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7d2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22"/>
          <p:cNvSpPr/>
          <p:nvPr/>
        </p:nvSpPr>
        <p:spPr>
          <a:xfrm>
            <a:off x="640080" y="5468040"/>
            <a:ext cx="548280" cy="776880"/>
          </a:xfrm>
          <a:prstGeom prst="roundRect">
            <a:avLst>
              <a:gd name="adj" fmla="val 50000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23"/>
          <p:cNvSpPr/>
          <p:nvPr/>
        </p:nvSpPr>
        <p:spPr>
          <a:xfrm>
            <a:off x="640080" y="5468040"/>
            <a:ext cx="548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0a8e8"/>
                </a:solidFill>
                <a:latin typeface="Cambria"/>
                <a:ea typeface="Cambria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24"/>
          <p:cNvSpPr/>
          <p:nvPr/>
        </p:nvSpPr>
        <p:spPr>
          <a:xfrm>
            <a:off x="1417320" y="544968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447"/>
                </a:solidFill>
                <a:latin typeface="Calibri"/>
                <a:ea typeface="Calibri"/>
              </a:rPr>
              <a:t>Feedback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25"/>
          <p:cNvSpPr/>
          <p:nvPr/>
        </p:nvSpPr>
        <p:spPr>
          <a:xfrm>
            <a:off x="3794760" y="5468040"/>
            <a:ext cx="7726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1e28"/>
                </a:solidFill>
                <a:latin typeface="Calibri"/>
                <a:ea typeface="Calibri"/>
              </a:rPr>
              <a:t>On completion, observed tokens served, latency, and KV occupancy are written back through the Telemetry loop.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26"/>
          <p:cNvSpPr/>
          <p:nvPr/>
        </p:nvSpPr>
        <p:spPr>
          <a:xfrm>
            <a:off x="640080" y="630936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9aa5b4"/>
                </a:solidFill>
                <a:latin typeface="Calibri"/>
                <a:ea typeface="Calibri"/>
              </a:rPr>
              <a:t>Steps 2–3 are the sub-millisecond decision path; step 5 closes the loop so both fairness state and load forecasts stay current.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27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/>
          <p:nvPr/>
        </p:nvSpPr>
        <p:spPr>
          <a:xfrm>
            <a:off x="640080" y="384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00a8e8"/>
                </a:solidFill>
                <a:latin typeface="Calibri"/>
                <a:ea typeface="Calibri"/>
              </a:rPr>
              <a:t>04 · SYSTEM DESIGN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640080" y="67680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62447"/>
                </a:solidFill>
                <a:latin typeface="Cambria"/>
                <a:ea typeface="Cambria"/>
              </a:rPr>
              <a:t>Testbed &amp; Toolchain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2"/>
          <p:cNvSpPr/>
          <p:nvPr/>
        </p:nvSpPr>
        <p:spPr>
          <a:xfrm>
            <a:off x="640080" y="1783080"/>
            <a:ext cx="10881000" cy="959760"/>
          </a:xfrm>
          <a:prstGeom prst="roundRect">
            <a:avLst>
              <a:gd name="adj" fmla="val 7619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3"/>
          <p:cNvSpPr/>
          <p:nvPr/>
        </p:nvSpPr>
        <p:spPr>
          <a:xfrm>
            <a:off x="640080" y="1783080"/>
            <a:ext cx="109440" cy="959760"/>
          </a:xfrm>
          <a:prstGeom prst="roundRect">
            <a:avLst>
              <a:gd name="adj" fmla="val 16667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4"/>
          <p:cNvSpPr/>
          <p:nvPr/>
        </p:nvSpPr>
        <p:spPr>
          <a:xfrm>
            <a:off x="1005840" y="18928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447"/>
                </a:solidFill>
                <a:latin typeface="Cambria"/>
                <a:ea typeface="Cambria"/>
              </a:rPr>
              <a:t>Serving Engine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5"/>
          <p:cNvSpPr/>
          <p:nvPr/>
        </p:nvSpPr>
        <p:spPr>
          <a:xfrm>
            <a:off x="1005840" y="228600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1e28"/>
                </a:solidFill>
                <a:latin typeface="Calibri"/>
                <a:ea typeface="Calibri"/>
              </a:rPr>
              <a:t>vLLM with Sarathi-Serve-style chunked-prefill scheduling, unmodified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6"/>
          <p:cNvSpPr/>
          <p:nvPr/>
        </p:nvSpPr>
        <p:spPr>
          <a:xfrm>
            <a:off x="640080" y="2898720"/>
            <a:ext cx="10881000" cy="959760"/>
          </a:xfrm>
          <a:prstGeom prst="roundRect">
            <a:avLst>
              <a:gd name="adj" fmla="val 7619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7"/>
          <p:cNvSpPr/>
          <p:nvPr/>
        </p:nvSpPr>
        <p:spPr>
          <a:xfrm>
            <a:off x="640080" y="2898720"/>
            <a:ext cx="109440" cy="959760"/>
          </a:xfrm>
          <a:prstGeom prst="roundRect">
            <a:avLst>
              <a:gd name="adj" fmla="val 16667"/>
            </a:avLst>
          </a:prstGeom>
          <a:solidFill>
            <a:srgbClr val="1f30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8"/>
          <p:cNvSpPr/>
          <p:nvPr/>
        </p:nvSpPr>
        <p:spPr>
          <a:xfrm>
            <a:off x="1005840" y="30085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447"/>
                </a:solidFill>
                <a:latin typeface="Cambria"/>
                <a:ea typeface="Cambria"/>
              </a:rPr>
              <a:t>Cluster Scale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9"/>
          <p:cNvSpPr/>
          <p:nvPr/>
        </p:nvSpPr>
        <p:spPr>
          <a:xfrm>
            <a:off x="1005840" y="340164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1e28"/>
                </a:solidFill>
                <a:latin typeface="Calibri"/>
                <a:ea typeface="Calibri"/>
              </a:rPr>
              <a:t>2–4 homogeneous GPU replicas (simulated or small-scale real deployment)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0"/>
          <p:cNvSpPr/>
          <p:nvPr/>
        </p:nvSpPr>
        <p:spPr>
          <a:xfrm>
            <a:off x="640080" y="4014360"/>
            <a:ext cx="10881000" cy="959760"/>
          </a:xfrm>
          <a:prstGeom prst="roundRect">
            <a:avLst>
              <a:gd name="adj" fmla="val 7619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11"/>
          <p:cNvSpPr/>
          <p:nvPr/>
        </p:nvSpPr>
        <p:spPr>
          <a:xfrm>
            <a:off x="640080" y="4014360"/>
            <a:ext cx="109440" cy="959760"/>
          </a:xfrm>
          <a:prstGeom prst="roundRect">
            <a:avLst>
              <a:gd name="adj" fmla="val 16667"/>
            </a:avLst>
          </a:prstGeom>
          <a:solidFill>
            <a:srgbClr val="16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12"/>
          <p:cNvSpPr/>
          <p:nvPr/>
        </p:nvSpPr>
        <p:spPr>
          <a:xfrm>
            <a:off x="1005840" y="412380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447"/>
                </a:solidFill>
                <a:latin typeface="Cambria"/>
                <a:ea typeface="Cambria"/>
              </a:rPr>
              <a:t>Traffic Traces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13"/>
          <p:cNvSpPr/>
          <p:nvPr/>
        </p:nvSpPr>
        <p:spPr>
          <a:xfrm>
            <a:off x="1005840" y="451728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1e28"/>
                </a:solidFill>
                <a:latin typeface="Calibri"/>
                <a:ea typeface="Calibri"/>
              </a:rPr>
              <a:t>WildChat, ShareGPT, Azure LLM Inference Trace — replayed with injected skew &amp; bursts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14"/>
          <p:cNvSpPr/>
          <p:nvPr/>
        </p:nvSpPr>
        <p:spPr>
          <a:xfrm>
            <a:off x="640080" y="5129640"/>
            <a:ext cx="10881000" cy="959760"/>
          </a:xfrm>
          <a:prstGeom prst="roundRect">
            <a:avLst>
              <a:gd name="adj" fmla="val 7619"/>
            </a:avLst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15"/>
          <p:cNvSpPr/>
          <p:nvPr/>
        </p:nvSpPr>
        <p:spPr>
          <a:xfrm>
            <a:off x="640080" y="5129640"/>
            <a:ext cx="109440" cy="959760"/>
          </a:xfrm>
          <a:prstGeom prst="roundRect">
            <a:avLst>
              <a:gd name="adj" fmla="val 16667"/>
            </a:avLst>
          </a:prstGeom>
          <a:solidFill>
            <a:srgbClr val="1f30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16"/>
          <p:cNvSpPr/>
          <p:nvPr/>
        </p:nvSpPr>
        <p:spPr>
          <a:xfrm>
            <a:off x="1005840" y="52394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62447"/>
                </a:solidFill>
                <a:latin typeface="Cambria"/>
                <a:ea typeface="Cambria"/>
              </a:rPr>
              <a:t>Simulation Layer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17"/>
          <p:cNvSpPr/>
          <p:nvPr/>
        </p:nvSpPr>
        <p:spPr>
          <a:xfrm>
            <a:off x="1005840" y="5632560"/>
            <a:ext cx="10240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b1e28"/>
                </a:solidFill>
                <a:latin typeface="Calibri"/>
                <a:ea typeface="Calibri"/>
              </a:rPr>
              <a:t>High-fidelity simulator for rapid baseline sweeps before real-cluster runs ( eg: Astra-Sim, LLM Serving Sim 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18"/>
          <p:cNvSpPr/>
          <p:nvPr/>
        </p:nvSpPr>
        <p:spPr>
          <a:xfrm>
            <a:off x="11277360" y="641916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27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24"/>
          <p:cNvSpPr/>
          <p:nvPr/>
        </p:nvSpPr>
        <p:spPr>
          <a:xfrm>
            <a:off x="9601200" y="-1371600"/>
            <a:ext cx="4571280" cy="4571280"/>
          </a:xfrm>
          <a:prstGeom prst="ellipse">
            <a:avLst/>
          </a:prstGeom>
          <a:solidFill>
            <a:srgbClr val="edf2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32"/>
          <p:cNvSpPr/>
          <p:nvPr/>
        </p:nvSpPr>
        <p:spPr>
          <a:xfrm>
            <a:off x="640080" y="256032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162447"/>
                </a:solidFill>
                <a:latin typeface="Cambria"/>
                <a:ea typeface="Cambria"/>
              </a:rPr>
              <a:t>Thank You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33"/>
          <p:cNvSpPr/>
          <p:nvPr/>
        </p:nvSpPr>
        <p:spPr>
          <a:xfrm>
            <a:off x="640080" y="34290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0a8e8"/>
                </a:solidFill>
                <a:latin typeface="Calibri"/>
                <a:ea typeface="Calibri"/>
              </a:rPr>
              <a:t>Questions &amp; Discussion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34"/>
          <p:cNvSpPr/>
          <p:nvPr/>
        </p:nvSpPr>
        <p:spPr>
          <a:xfrm>
            <a:off x="640080" y="4114800"/>
            <a:ext cx="7771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35"/>
          <p:cNvSpPr/>
          <p:nvPr/>
        </p:nvSpPr>
        <p:spPr>
          <a:xfrm>
            <a:off x="11277360" y="640080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b7c0cf"/>
                </a:solidFill>
                <a:latin typeface="Calibri"/>
                <a:ea typeface="Calibri"/>
              </a:rPr>
              <a:t>24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2026-08-18T11:04:37Z</dcterms:created>
  <dc:creator>PptxGenJS</dc:creator>
  <dc:description/>
  <dc:language>en-US</dc:language>
  <cp:lastModifiedBy/>
  <dcterms:modified xsi:type="dcterms:W3CDTF">2026-08-18T17:15:37Z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28</vt:i4>
  </property>
  <property fmtid="{D5CDD505-2E9C-101B-9397-08002B2CF9AE}" pid="3" name="PresentationFormat">
    <vt:lpwstr>On-screen Show (16:9)</vt:lpwstr>
  </property>
  <property fmtid="{D5CDD505-2E9C-101B-9397-08002B2CF9AE}" pid="4" name="Slides">
    <vt:i4>28</vt:i4>
  </property>
</Properties>
</file>